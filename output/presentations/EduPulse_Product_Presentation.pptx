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aa4d46407c4271" /><Relationship Type="http://schemas.openxmlformats.org/officeDocument/2006/relationships/extended-properties" Target="/docProps/app.xml" Id="Rb4fdf9c8d19c4a40" /><Relationship Type="http://schemas.openxmlformats.org/officeDocument/2006/relationships/officeDocument" Target="/ppt/presentation.xml" Id="Rd02bed23ab404ded" /></Relationships>
</file>

<file path=ppt/presentation.xml><?xml version="1.0" encoding="utf-8"?>
<p:presentation xmlns:p="http://schemas.openxmlformats.org/presentationml/2006/main">
  <p:sldMasterIdLst>
    <p:sldMasterId xmlns:r="http://schemas.openxmlformats.org/officeDocument/2006/relationships" id="2147483648" r:id="Rd3f8787a96c3464c"/>
  </p:sldMasterIdLst>
  <p:notesMasterIdLst>
    <p:notesMasterId xmlns:r="http://schemas.openxmlformats.org/officeDocument/2006/relationships" r:id="R4aaa8e3ca45b429a"/>
  </p:notesMasterIdLst>
  <p:sldIdLst>
    <p:sldId xmlns:r="http://schemas.openxmlformats.org/officeDocument/2006/relationships" id="256" r:id="Rd74402e7895c4854"/>
    <p:sldId xmlns:r="http://schemas.openxmlformats.org/officeDocument/2006/relationships" id="257" r:id="R42fec645fa644ca7"/>
    <p:sldId xmlns:r="http://schemas.openxmlformats.org/officeDocument/2006/relationships" id="258" r:id="Rb59b8f2f59964435"/>
    <p:sldId xmlns:r="http://schemas.openxmlformats.org/officeDocument/2006/relationships" id="259" r:id="Raa4c4cf96f644707"/>
    <p:sldId xmlns:r="http://schemas.openxmlformats.org/officeDocument/2006/relationships" id="260" r:id="R1006a3a63dc745bc"/>
    <p:sldId xmlns:r="http://schemas.openxmlformats.org/officeDocument/2006/relationships" id="261" r:id="R50a86051404c4b79"/>
    <p:sldId xmlns:r="http://schemas.openxmlformats.org/officeDocument/2006/relationships" id="262" r:id="Rfc218627aa4f434e"/>
    <p:sldId xmlns:r="http://schemas.openxmlformats.org/officeDocument/2006/relationships" id="263" r:id="R114b7c48fc294664"/>
    <p:sldId xmlns:r="http://schemas.openxmlformats.org/officeDocument/2006/relationships" id="264" r:id="Rac1e1da6629c4291"/>
    <p:sldId xmlns:r="http://schemas.openxmlformats.org/officeDocument/2006/relationships" id="265" r:id="Ra1a9f7f37cb04568"/>
    <p:sldId xmlns:r="http://schemas.openxmlformats.org/officeDocument/2006/relationships" id="266" r:id="R355195d88ef84e84"/>
    <p:sldId xmlns:r="http://schemas.openxmlformats.org/officeDocument/2006/relationships" id="267" r:id="Re5fd003dda3f4c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3f482433544f74" /><Relationship Type="http://schemas.openxmlformats.org/officeDocument/2006/relationships/slideMaster" Target="/ppt/slideMasters/slideMaster1.xml" Id="Rd3f8787a96c3464c" /><Relationship Type="http://schemas.openxmlformats.org/officeDocument/2006/relationships/notesMaster" Target="/ppt/notesMasters/notesMaster1.xml" Id="R4aaa8e3ca45b429a" /><Relationship Type="http://schemas.openxmlformats.org/officeDocument/2006/relationships/presProps" Target="/ppt/presProps.xml" Id="R8e737592f8e84dee" /><Relationship Type="http://schemas.openxmlformats.org/officeDocument/2006/relationships/tableStyles" Target="/ppt/tableStyles.xml" Id="Ra9a350b8e8a9456a" /><Relationship Type="http://schemas.openxmlformats.org/officeDocument/2006/relationships/slide" Target="/ppt/slides/slide1.xml" Id="Rd74402e7895c4854" /><Relationship Type="http://schemas.openxmlformats.org/officeDocument/2006/relationships/slide" Target="/ppt/slides/slide2.xml" Id="R42fec645fa644ca7" /><Relationship Type="http://schemas.openxmlformats.org/officeDocument/2006/relationships/slide" Target="/ppt/slides/slide3.xml" Id="Rb59b8f2f59964435" /><Relationship Type="http://schemas.openxmlformats.org/officeDocument/2006/relationships/slide" Target="/ppt/slides/slide4.xml" Id="Raa4c4cf96f644707" /><Relationship Type="http://schemas.openxmlformats.org/officeDocument/2006/relationships/slide" Target="/ppt/slides/slide5.xml" Id="R1006a3a63dc745bc" /><Relationship Type="http://schemas.openxmlformats.org/officeDocument/2006/relationships/slide" Target="/ppt/slides/slide6.xml" Id="R50a86051404c4b79" /><Relationship Type="http://schemas.openxmlformats.org/officeDocument/2006/relationships/slide" Target="/ppt/slides/slide7.xml" Id="Rfc218627aa4f434e" /><Relationship Type="http://schemas.openxmlformats.org/officeDocument/2006/relationships/slide" Target="/ppt/slides/slide8.xml" Id="R114b7c48fc294664" /><Relationship Type="http://schemas.openxmlformats.org/officeDocument/2006/relationships/slide" Target="/ppt/slides/slide9.xml" Id="Rac1e1da6629c4291" /><Relationship Type="http://schemas.openxmlformats.org/officeDocument/2006/relationships/slide" Target="/ppt/slides/slide10.xml" Id="Ra1a9f7f37cb04568" /><Relationship Type="http://schemas.openxmlformats.org/officeDocument/2006/relationships/slide" Target="/ppt/slides/slide11.xml" Id="R355195d88ef84e84" /><Relationship Type="http://schemas.openxmlformats.org/officeDocument/2006/relationships/slide" Target="/ppt/slides/slide12.xml" Id="Re5fd003dda3f4c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a4cda4b03042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214de47a7544c6" /><Relationship Type="http://schemas.openxmlformats.org/officeDocument/2006/relationships/notesMaster" Target="/ppt/notesMasters/notesMaster1.xml" Id="R7ada006323c145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a7a103203b4730" /><Relationship Type="http://schemas.openxmlformats.org/officeDocument/2006/relationships/notesMaster" Target="/ppt/notesMasters/notesMaster1.xml" Id="Ra05893a902244a3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53333ed2d34058" /><Relationship Type="http://schemas.openxmlformats.org/officeDocument/2006/relationships/notesMaster" Target="/ppt/notesMasters/notesMaster1.xml" Id="R72252045aae44d0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f6b77f544d84aef" /><Relationship Type="http://schemas.openxmlformats.org/officeDocument/2006/relationships/notesMaster" Target="/ppt/notesMasters/notesMaster1.xml" Id="Re740c59741964a07"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868a2df1d84dbf" /><Relationship Type="http://schemas.openxmlformats.org/officeDocument/2006/relationships/notesMaster" Target="/ppt/notesMasters/notesMaster1.xml" Id="R4eb54d7d475347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4940242fe85f4d2c" /><Relationship Type="http://schemas.openxmlformats.org/officeDocument/2006/relationships/notesMaster" Target="/ppt/notesMasters/notesMaster1.xml" Id="Re93c20d9a4de48b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6441bcec5c4aa0" /><Relationship Type="http://schemas.openxmlformats.org/officeDocument/2006/relationships/notesMaster" Target="/ppt/notesMasters/notesMaster1.xml" Id="R871586209a9741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fd4b3e6deab4390" /><Relationship Type="http://schemas.openxmlformats.org/officeDocument/2006/relationships/notesMaster" Target="/ppt/notesMasters/notesMaster1.xml" Id="Rc4e00049c1564a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00f9b25aa9453f" /><Relationship Type="http://schemas.openxmlformats.org/officeDocument/2006/relationships/notesMaster" Target="/ppt/notesMasters/notesMaster1.xml" Id="Rbdbd4b4cb3a644b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54d5497b5564a14" /><Relationship Type="http://schemas.openxmlformats.org/officeDocument/2006/relationships/notesMaster" Target="/ppt/notesMasters/notesMaster1.xml" Id="R4c516cbe2eec4f8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38ffd228ba42e8" /><Relationship Type="http://schemas.openxmlformats.org/officeDocument/2006/relationships/notesMaster" Target="/ppt/notesMasters/notesMaster1.xml" Id="R2f5fd1b8a4054e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26d2d3b7e34877" /><Relationship Type="http://schemas.openxmlformats.org/officeDocument/2006/relationships/notesMaster" Target="/ppt/notesMasters/notesMaster1.xml" Id="R3a6d1f010fa649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0:00–1:00</a:t>
            </a:r>
          </a:p>
          <a:p xmlns:a="http://schemas.openxmlformats.org/drawingml/2006/main">
            <a:r>
              <a:t/>
            </a:r>
          </a:p>
          <a:p xmlns:a="http://schemas.openxmlformats.org/drawingml/2006/main">
            <a:r>
              <a:t>SAY</a:t>
            </a:r>
          </a:p>
          <a:p xmlns:a="http://schemas.openxmlformats.org/drawingml/2006/main">
            <a:r>
              <a:t>Good morning. Imagine a first-year Computer Science class with seventy students. The teacher finishes a lesson on loops and asks, “Is everyone clear?” A few students say yes. Some stay quiet. The class moves on. A week later, an assessment shows that several students were struggling with different parts of the lesson. Now the teacher has to work backwards: who needs help, what exactly is confusing them, and what should happen next? I used that simple, hypothetical classroom situation as my starting point. And that is how I came up with this idea: EduPulse, a system that helps faculty turn a learning gap into a clear next action.</a:t>
            </a:r>
          </a:p>
          <a:p xmlns:a="http://schemas.openxmlformats.org/drawingml/2006/main">
            <a:r>
              <a:t/>
            </a:r>
          </a:p>
          <a:p xmlns:a="http://schemas.openxmlformats.org/drawingml/2006/main">
            <a:r>
              <a:t>LIVE APPLICATION ACTION</a:t>
            </a:r>
          </a:p>
          <a:p xmlns:a="http://schemas.openxmlformats.org/drawingml/2006/main">
            <a:r>
              <a:t>Start on the faculty overview. Keep the cursor still during the opening story. This is an imagined situation, not a claim about a personal classroom incident.</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1:00–1:50</a:t>
            </a:r>
          </a:p>
          <a:p xmlns:a="http://schemas.openxmlformats.org/drawingml/2006/main">
            <a:r>
              <a:t/>
            </a:r>
          </a:p>
          <a:p xmlns:a="http://schemas.openxmlformats.org/drawingml/2006/main">
            <a:r>
              <a:t>SAY</a:t>
            </a:r>
          </a:p>
          <a:p xmlns:a="http://schemas.openxmlformats.org/drawingml/2006/main">
            <a:r>
              <a:t>This is the workspace for CSE, Year One. We can move from the whole class to one student, inspect a concept, open a learning plan, and return to see what changed. The important point is that seventy students do not need seventy copies of the same advice. Today I will show four situations: Asha needs help with nested loops; Rahul needs a different starting point; Ishaan has no assessment evidence yet; and Omar needs a mentor conversation. Together, they show how the same system can support different decisions.</a:t>
            </a:r>
          </a:p>
          <a:p xmlns:a="http://schemas.openxmlformats.org/drawingml/2006/main">
            <a:r>
              <a:t/>
            </a:r>
          </a:p>
          <a:p xmlns:a="http://schemas.openxmlformats.org/drawingml/2006/main">
            <a:r>
              <a:t>LIVE APPLICATION ACTION</a:t>
            </a:r>
          </a:p>
          <a:p xmlns:a="http://schemas.openxmlformats.org/drawingml/2006/main">
            <a:r>
              <a:t>Show the 70-student count. Open Students and briefly point to search and the support filters. Do not scroll through the entire class.</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1:50–3:00</a:t>
            </a:r>
          </a:p>
          <a:p xmlns:a="http://schemas.openxmlformats.org/drawingml/2006/main">
            <a:r>
              <a:t/>
            </a:r>
          </a:p>
          <a:p xmlns:a="http://schemas.openxmlformats.org/drawingml/2006/main">
            <a:r>
              <a:t>SAY</a:t>
            </a:r>
          </a:p>
          <a:p xmlns:a="http://schemas.openxmlformats.org/drawingml/2006/main">
            <a:r>
              <a:t>Let us begin with Asha. Before I open her learning plan, may I ask you one question? If a student attends most classes and submits most assignments, is that enough to decide which topic she understands? I would still want to see her answers. Here, attendance and assignment completion provide context, while the concept scores show where to investigate. Asha's clearest gap is nested loops. The support priority also shows its ingredients, so a teacher can inspect the reasoning. It is a transparent prioritization rule. The purpose is to direct attention toward useful evidence and a practical next step.</a:t>
            </a:r>
          </a:p>
          <a:p xmlns:a="http://schemas.openxmlformats.org/drawingml/2006/main">
            <a:r>
              <a:t/>
            </a:r>
          </a:p>
          <a:p xmlns:a="http://schemas.openxmlformats.org/drawingml/2006/main">
            <a:r>
              <a:t>LIVE APPLICATION ACTION</a:t>
            </a:r>
          </a:p>
          <a:p xmlns:a="http://schemas.openxmlformats.org/drawingml/2006/main">
            <a:r>
              <a:t>Search Asha and open her profile. Pause 10–15 seconds for one panel response. Show all three concept bars and the priority breakdown. Do not imply that generated baseline records contain inspectable historical question text.</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a:p xmlns:a="http://schemas.openxmlformats.org/drawingml/2006/main">
            <a:br/>
            <a:r>
              <a:t>Illustrative prepared baseline from generated class records. These estimates are not exam marks or validated probabilities.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3:00–4:05</a:t>
            </a:r>
          </a:p>
          <a:p xmlns:a="http://schemas.openxmlformats.org/drawingml/2006/main">
            <a:r>
              <a:t/>
            </a:r>
          </a:p>
          <a:p xmlns:a="http://schemas.openxmlformats.org/drawingml/2006/main">
            <a:r>
              <a:t>SAY</a:t>
            </a:r>
          </a:p>
          <a:p xmlns:a="http://schemas.openxmlformats.org/drawingml/2006/main">
            <a:r>
              <a:t>I will open Asha's learning plan. The lesson concentrates on one idea: each outer-loop iteration starts another complete run of the inner loop. The explanation is broken into small steps, followed by a worked example. The teaching reference is visible, and the practice questions give feedback. That gives the student a way to work on the gap before taking another check. In the current configuration, these are reviewed local lessons. Optional Gemini generation can rephrase approved material, but it is switched off today. The useful workflow still works. I am moving through this lesson quickly to show the system; a real learner would take the time they need.</a:t>
            </a:r>
          </a:p>
          <a:p xmlns:a="http://schemas.openxmlformats.org/drawingml/2006/main">
            <a:r>
              <a:t/>
            </a:r>
          </a:p>
          <a:p xmlns:a="http://schemas.openxmlformats.org/drawingml/2006/main">
            <a:r>
              <a:t>LIVE APPLICATION ACTION</a:t>
            </a:r>
          </a:p>
          <a:p xmlns:a="http://schemas.openxmlformats.org/drawingml/2006/main">
            <a:r>
              <a:t>Click Open learning plan for nested loops. Show the lesson steps, code example, and source reference. Mark the lesson reviewed. Briefly point to Practice with feedback, then choose the independent retest.</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a:p xmlns:a="http://schemas.openxmlformats.org/drawingml/2006/main">
            <a:br/>
            <a:r>
              <a:t>Teaching source: https://docs.python.org/3/reference/compound_stmts.html#the-for-statement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4:05–6:05</a:t>
            </a:r>
          </a:p>
          <a:p xmlns:a="http://schemas.openxmlformats.org/drawingml/2006/main">
            <a:r>
              <a:t/>
            </a:r>
          </a:p>
          <a:p xmlns:a="http://schemas.openxmlformats.org/drawingml/2006/main">
            <a:r>
              <a:t>SAY</a:t>
            </a:r>
          </a:p>
          <a:p xmlns:a="http://schemas.openxmlformats.org/drawingml/2006/main">
            <a:r>
              <a:t>Now we check what the learner can do with different questions. Would one of you choose the first answer? There are three outer iterations and four inner iterations. How many times does the inner statement run? Please choose the option you would submit. I will enter the answer you choose. The response is saved, and feedback stays hidden until the check is complete so it does not teach the remaining answers. I will finish the other two questions to show the full journey. Notice that submitting an answer changes real saved state; this is not a slide animation.</a:t>
            </a:r>
          </a:p>
          <a:p xmlns:a="http://schemas.openxmlformats.org/drawingml/2006/main">
            <a:r>
              <a:t/>
            </a:r>
          </a:p>
          <a:p xmlns:a="http://schemas.openxmlformats.org/drawingml/2006/main">
            <a:r>
              <a:t>LIVE APPLICATION ACTION</a:t>
            </a:r>
          </a:p>
          <a:p xmlns:a="http://schemas.openxmlformats.org/drawingml/2006/main">
            <a:r>
              <a:t>Allow up to 30 seconds for the first response; submit it honestly. Complete the other two items without reading this private answer key aloud. Click See my results. This section includes about 75 seconds of reading, clicking, and panel participation.</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a:p xmlns:a="http://schemas.openxmlformats.org/drawingml/2006/main">
            <a:br/>
            <a:r>
              <a:t>Private key: C = 12. Do not reveal this on the projected screen. Submit the panel’s chosen option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6:05–7:05</a:t>
            </a:r>
          </a:p>
          <a:p xmlns:a="http://schemas.openxmlformats.org/drawingml/2006/main">
            <a:r>
              <a:t/>
            </a:r>
          </a:p>
          <a:p xmlns:a="http://schemas.openxmlformats.org/drawingml/2006/main">
            <a:r>
              <a:t>SAY</a:t>
            </a:r>
          </a:p>
          <a:p xmlns:a="http://schemas.openxmlformats.org/drawingml/2006/main">
            <a:r>
              <a:t>Here is the result from the answers we just submitted. Let us return to the learning plan and then the student profile. The current estimate uses the recent response history, so it is different from the percentage correct in this single check. A good immediate result is useful evidence, but it does not establish long-term retention. A later assessment would be needed for that. What we can demonstrate now is the completed loop: a gap led to a lesson, the lesson led to a check, and the check produced a saved result that faculty can use.</a:t>
            </a:r>
          </a:p>
          <a:p xmlns:a="http://schemas.openxmlformats.org/drawingml/2006/main">
            <a:r>
              <a:t/>
            </a:r>
          </a:p>
          <a:p xmlns:a="http://schemas.openxmlformats.org/drawingml/2006/main">
            <a:r>
              <a:t>LIVE APPLICATION ACTION</a:t>
            </a:r>
          </a:p>
          <a:p xmlns:a="http://schemas.openxmlformats.org/drawingml/2006/main">
            <a:r>
              <a:t>Read the actual correct count. If all three were correct from a fresh Asha baseline, point to 20% before and 40% current; explain that 3/3 is the retest result while 40% is the smoothed recent-evidence estimate. If any were wrong, say: “This result tells us that more support is needed.” Never claim a predetermined improvement.</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7:05–8:05</a:t>
            </a:r>
          </a:p>
          <a:p xmlns:a="http://schemas.openxmlformats.org/drawingml/2006/main">
            <a:r>
              <a:t/>
            </a:r>
          </a:p>
          <a:p xmlns:a="http://schemas.openxmlformats.org/drawingml/2006/main">
            <a:r>
              <a:t>SAY</a:t>
            </a:r>
          </a:p>
          <a:p xmlns:a="http://schemas.openxmlformats.org/drawingml/2006/main">
            <a:r>
              <a:t>Now let us look at Rahul. His profile does not look like Asha's. His off-by-one and nested-loop estimates are tied at the low end; the system selects off-by-one first in the course order. An off-by-one problem means a loop may run once too few or once too many. His focused lesson therefore checks the intended first and last values, rather than repeating Asha's nested-loop explanation. This is the practical meaning of targeting support at a concept. The teacher can inspect the other concepts too, and choose a different starting point when their classroom knowledge suggests one.</a:t>
            </a:r>
          </a:p>
          <a:p xmlns:a="http://schemas.openxmlformats.org/drawingml/2006/main">
            <a:r>
              <a:t/>
            </a:r>
          </a:p>
          <a:p xmlns:a="http://schemas.openxmlformats.org/drawingml/2006/main">
            <a:r>
              <a:t>LIVE APPLICATION ACTION</a:t>
            </a:r>
          </a:p>
          <a:p xmlns:a="http://schemas.openxmlformats.org/drawingml/2006/main">
            <a:r>
              <a:t>Open Compare students to show Asha and Rahul side by side. Then open Rahul’s profile and his off-by-one plan to show its distinct lesson. Do not complete another retest. If the profile has changed during rehearsal, describe the displayed recommendation instead.</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8:05–9:00</a:t>
            </a:r>
          </a:p>
          <a:p xmlns:a="http://schemas.openxmlformats.org/drawingml/2006/main">
            <a:r>
              <a:t/>
            </a:r>
          </a:p>
          <a:p xmlns:a="http://schemas.openxmlformats.org/drawingml/2006/main">
            <a:r>
              <a:t>SAY</a:t>
            </a:r>
          </a:p>
          <a:p xmlns:a="http://schemas.openxmlformats.org/drawingml/2006/main">
            <a:r>
              <a:t>Ishaan is a third situation. We do not yet have answers from him. The system therefore shows that he has not been assessed. It does not assign him a zero or declare that he needs urgent support simply because data is missing. His next step is a short diagnostic. After those first answers, the evidence remains limited; two responses are only a starting point. That distinction matters in a real class: a missing record and a demonstrated learning gap should lead to different conversations. Here, the teacher can see which situation they are dealing with.</a:t>
            </a:r>
          </a:p>
          <a:p xmlns:a="http://schemas.openxmlformats.org/drawingml/2006/main">
            <a:r>
              <a:t/>
            </a:r>
          </a:p>
          <a:p xmlns:a="http://schemas.openxmlformats.org/drawingml/2006/main">
            <a:r>
              <a:t>LIVE APPLICATION ACTION</a:t>
            </a:r>
          </a:p>
          <a:p xmlns:a="http://schemas.openxmlformats.org/drawingml/2006/main">
            <a:r>
              <a:t>Search Ishaan. Point to Not assessed and missing engagement values. Open Start diagnostic and show the first question; submission is optional. If submitted, retain the Limited evidence label in the explanation. Allow 10 seconds for the panel to inspect the contrast.</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9:00–10:00</a:t>
            </a:r>
          </a:p>
          <a:p xmlns:a="http://schemas.openxmlformats.org/drawingml/2006/main">
            <a:r>
              <a:t/>
            </a:r>
          </a:p>
          <a:p xmlns:a="http://schemas.openxmlformats.org/drawingml/2006/main">
            <a:r>
              <a:t>SAY</a:t>
            </a:r>
          </a:p>
          <a:p xmlns:a="http://schemas.openxmlformats.org/drawingml/2006/main">
            <a:r>
              <a:t>Finally, there is Omar. Some difficulties need a conversation with a person. The mentor-review area makes that next action visible, with the student's name, concept, and reason for review. A teacher can open the evidence and acknowledge the item. Acknowledging means it has been seen; it does not mean the learning difficulty has disappeared. It also does not send a message or email. This is the faculty workflow that connects the learning activity to follow-up. EduPulse keeps the teacher involved in deciding what kind of support the student needs.</a:t>
            </a:r>
          </a:p>
          <a:p xmlns:a="http://schemas.openxmlformats.org/drawingml/2006/main">
            <a:r>
              <a:t/>
            </a:r>
          </a:p>
          <a:p xmlns:a="http://schemas.openxmlformats.org/drawingml/2006/main">
            <a:r>
              <a:t>LIVE APPLICATION ACTION</a:t>
            </a:r>
          </a:p>
          <a:p xmlns:a="http://schemas.openxmlformats.org/drawingml/2006/main">
            <a:r>
              <a:t>Open Mentor review. Show Omar's existing review and its reason. Open his evidence, then return and acknowledge if the item is still open. If already acknowledged from rehearsal, use All reviews. Explain this as a prepared case, not a newly triggered review.</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10:00–11:15</a:t>
            </a:r>
          </a:p>
          <a:p xmlns:a="http://schemas.openxmlformats.org/drawingml/2006/main">
            <a:r>
              <a:t/>
            </a:r>
          </a:p>
          <a:p xmlns:a="http://schemas.openxmlformats.org/drawingml/2006/main">
            <a:r>
              <a:t>SAY</a:t>
            </a:r>
          </a:p>
          <a:p xmlns:a="http://schemas.openxmlformats.org/drawingml/2006/main">
            <a:r>
              <a:t>The product connects learner activities with a faculty workspace. React and TypeScript render the screens, React Router connects the learning journey, and Vite builds the interface. A submitted answer goes to Python and FastAPI for validation. The server checks the reviewed answer key and saves the response in SQLite. The rules engine then recalculates concept evidence and support priority, which drive the lesson, retest, and faculty follow-up. The optional AI branch sits inside explanation delivery. When a provider is approved and configured, Gemini can use the selected reviewed lesson as context and return a structured explanation. The server validates that structure and its source identifier before using it. Grading stays with the reviewed answer keys. This architecture connects diagnosis, targeted teaching, verification, and a teacher's next action; it does not depend on a model deciding whether a student's answer is correct.</a:t>
            </a:r>
          </a:p>
          <a:p xmlns:a="http://schemas.openxmlformats.org/drawingml/2006/main">
            <a:r>
              <a:t/>
            </a:r>
          </a:p>
          <a:p xmlns:a="http://schemas.openxmlformats.org/drawingml/2006/main">
            <a:r>
              <a:t>LIVE APPLICATION ACTION</a:t>
            </a:r>
          </a:p>
          <a:p xmlns:a="http://schemas.openxmlformats.org/drawingml/2006/main">
            <a:r>
              <a:t>Return to slide 10. Trace the complete architecture: learner and faculty screens, React Router UI, FastAPI validation, SQLite records, evidence rules, lessons and retest, then faculty review. Point to the optional Gemini explanation branch as a conditional provider integration. Keep present implementation status in the private notes and answer questions candidly. Slide 12 is an optional technical deployment roadmap appendix after the closing slide 11.</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a:p xmlns:a="http://schemas.openxmlformats.org/drawingml/2006/main">
            <a:br/>
            <a:r>
              <a:t>Product architecture: user journeys share a FastAPI service and SQLite evidence store. The optional Gemini integration generates structured contextual explanations from reviewed content. Grading and priority are deterministic. Private implementation status: runtime cloud generation is disabled and not validated with a real provider account; do not claim the displayed lesson was live-generated. Official API reference: https://ai.google.dev/gemini-api/docs/structured-output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11:15–12:00</a:t>
            </a:r>
          </a:p>
          <a:p xmlns:a="http://schemas.openxmlformats.org/drawingml/2006/main">
            <a:r>
              <a:t/>
            </a:r>
          </a:p>
          <a:p xmlns:a="http://schemas.openxmlformats.org/drawingml/2006/main">
            <a:r>
              <a:t>SAY</a:t>
            </a:r>
          </a:p>
          <a:p xmlns:a="http://schemas.openxmlformats.org/drawingml/2006/main">
            <a:r>
              <a:t>The result is a working connection between a class view and a student's next step. Asha receives focused support, Rahul gets a different lesson, Ishaan begins with assessment, and Omar stays connected to a mentor. My next step would be a supervised classroom pilot: review the teaching content with faculty, use consented records, and measure delayed learning as well as immediate answers. The question I want EduPulse to help a teacher answer is simple: who needs help with what, and what should we do next? Thank you. I would be happy to take your questions.</a:t>
            </a:r>
          </a:p>
          <a:p xmlns:a="http://schemas.openxmlformats.org/drawingml/2006/main">
            <a:r>
              <a:t/>
            </a:r>
          </a:p>
          <a:p xmlns:a="http://schemas.openxmlformats.org/drawingml/2006/main">
            <a:r>
              <a:t>LIVE APPLICATION ACTION</a:t>
            </a:r>
          </a:p>
          <a:p xmlns:a="http://schemas.openxmlformats.org/drawingml/2006/main">
            <a:r>
              <a:t>End on the overview. Stop at 12 minutes and keep the remaining approximately 3 minutes of the 15-minute slot for questions.</a:t>
            </a:r>
          </a:p>
          <a:p xmlns:a="http://schemas.openxmlformats.org/drawingml/2006/main">
            <a:r>
              <a:t/>
            </a:r>
          </a:p>
          <a:p xmlns:a="http://schemas.openxmlformats.org/drawingml/2006/main">
            <a:r>
              <a:t>For slides 3-9, switch to the live app. Slides are visual support and fallback. Return to slides 10-11 to explain the architecture and close.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Q&amp;A appendix, outside the 12-minute core script. Real user journeys: students complete a diagnostic, receive concept-focused help, practice, and take an independent retest; faculty inspect a class overview, compare evidence, and review mentor items. Current delivery runs locally with SQLite and shared role views. Production deployment requires authenticated identity, enforced role permissions, HTTPS, a production database plan, backups, audit events, consent and retention policy, and a verified zero-charge AI provider configuration. These deployment components are planned, not implemented. Do not claim production readiness or active generative 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dfa38c4a0a45f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b5e55b3572c405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6bf69da2e38451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df32c9c75d469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76da48dfef44e6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9cc7ec875dc43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44151B-3BBF-46E9-A32C-395343B4FBD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5892E17-1CCE-4A56-B35D-EE33B707992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64870CD-2B1E-4A54-BF35-DF6674A5D28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1F0D68-71FF-440B-B49A-1391286CCA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99E0889-B19A-44B0-8300-0392B1A3A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D80BC1F-CE83-43A3-90A7-D59CAE333C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E897AA-C70B-4071-93D7-6EADEE724C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045D889-D593-449C-A5DA-B47FEAFF704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40D106-B6A8-4CAF-BAF9-1A9A1845A1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238CDE-2D99-40F0-89C0-2B3DC38EDAC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565b2db2fa40b7" /><Relationship Type="http://schemas.openxmlformats.org/officeDocument/2006/relationships/slideLayout" Target="/ppt/slideLayouts/slideLayout1.xml" Id="Rf3f963f6789f4443" /><Relationship Type="http://schemas.openxmlformats.org/officeDocument/2006/relationships/slideLayout" Target="/ppt/slideLayouts/slideLayout2.xml" Id="Rd211e5e67b004cf9" /><Relationship Type="http://schemas.openxmlformats.org/officeDocument/2006/relationships/slideLayout" Target="/ppt/slideLayouts/slideLayout3.xml" Id="Rbd451363bf5e4eec" /><Relationship Type="http://schemas.openxmlformats.org/officeDocument/2006/relationships/slideLayout" Target="/ppt/slideLayouts/slideLayout4.xml" Id="Re5b700a1d7b44965" /><Relationship Type="http://schemas.openxmlformats.org/officeDocument/2006/relationships/slideLayout" Target="/ppt/slideLayouts/slideLayout5.xml" Id="R97ce48d774d4440d" /><Relationship Type="http://schemas.openxmlformats.org/officeDocument/2006/relationships/slideLayout" Target="/ppt/slideLayouts/slideLayout6.xml" Id="R308032c8b6fe45b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f963f6789f4443"/>
    <p:sldLayoutId xmlns:r="http://schemas.openxmlformats.org/officeDocument/2006/relationships" id="2147483650" r:id="Rd211e5e67b004cf9"/>
    <p:sldLayoutId xmlns:r="http://schemas.openxmlformats.org/officeDocument/2006/relationships" id="2147483651" r:id="Rbd451363bf5e4eec"/>
    <p:sldLayoutId xmlns:r="http://schemas.openxmlformats.org/officeDocument/2006/relationships" id="2147483652" r:id="Re5b700a1d7b44965"/>
    <p:sldLayoutId xmlns:r="http://schemas.openxmlformats.org/officeDocument/2006/relationships" id="2147483653" r:id="R97ce48d774d4440d"/>
    <p:sldLayoutId xmlns:r="http://schemas.openxmlformats.org/officeDocument/2006/relationships" id="2147483654" r:id="R308032c8b6fe45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07fb8f45b8449eb" /><Relationship Type="http://schemas.openxmlformats.org/officeDocument/2006/relationships/notesSlide" Target="/ppt/notesSlides/notesSlide1.xml" Id="R9441e7cc65414e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3fe910cd87a432f" /><Relationship Type="http://schemas.openxmlformats.org/officeDocument/2006/relationships/notesSlide" Target="/ppt/notesSlides/notesSlide2.xml" Id="Ra42b45174aee487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8d12a7c00714ab3" /><Relationship Type="http://schemas.openxmlformats.org/officeDocument/2006/relationships/notesSlide" Target="/ppt/notesSlides/notesSlide3.xml" Id="Rcefc2c7d16ed43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4e2f08bdab74fe4" /><Relationship Type="http://schemas.openxmlformats.org/officeDocument/2006/relationships/notesSlide" Target="/ppt/notesSlides/notesSlide4.xml" Id="R753e404ff17d45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430ea58a6c84ba2" /><Relationship Type="http://schemas.openxmlformats.org/officeDocument/2006/relationships/notesSlide" Target="/ppt/notesSlides/notesSlide5.xml" Id="R9725fd33f33140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a96cc5e0737423e" /><Relationship Type="http://schemas.openxmlformats.org/officeDocument/2006/relationships/notesSlide" Target="/ppt/notesSlides/notesSlide6.xml" Id="R2276e81faf2e48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7be0fc7dbdd41eb" /><Relationship Type="http://schemas.openxmlformats.org/officeDocument/2006/relationships/notesSlide" Target="/ppt/notesSlides/notesSlide7.xml" Id="Ra5862236faec46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8f6301fd3c1475b" /><Relationship Type="http://schemas.openxmlformats.org/officeDocument/2006/relationships/notesSlide" Target="/ppt/notesSlides/notesSlide8.xml" Id="R46ae17e672ae40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5f5cb4bc3d24d69" /><Relationship Type="http://schemas.openxmlformats.org/officeDocument/2006/relationships/notesSlide" Target="/ppt/notesSlides/notesSlide9.xml" Id="R4469ad2fa24f48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75e59d9f7924754" /><Relationship Type="http://schemas.openxmlformats.org/officeDocument/2006/relationships/notesSlide" Target="/ppt/notesSlides/notesSlide10.xml" Id="Re5aa46bfd65a4ad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e363ef4d1c44e94" /><Relationship Type="http://schemas.openxmlformats.org/officeDocument/2006/relationships/notesSlide" Target="/ppt/notesSlides/notesSlide11.xml" Id="R6592f0d8aaa440a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3ab07b8ecc84acd" /><Relationship Type="http://schemas.openxmlformats.org/officeDocument/2006/relationships/notesSlide" Target="/ppt/notesSlides/notesSlide12.xml" Id="R3203a45ac5994ea6" /></Relationships>
</file>

<file path=ppt/slides/slide1.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FAACA4-3EE1-4D22-B12F-F45FF137BCFB}"/>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421092-9C97-426D-A045-AA1EDADB3A0C}"/>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FFFFF"/>
                </a:solidFill>
                <a:latin typeface="Segoe UI"/>
                <a:ea typeface="Segoe UI"/>
                <a:cs typeface="Segoe UI"/>
              </a:defRPr>
            </a:defPPr>
          </a:lstStyle>
          <a:p xmlns:a="http://schemas.openxmlformats.org/drawingml/2006/main">
            <a:pPr>
              <a:defRPr sz="3825" b="1">
                <a:solidFill>
                  <a:srgbClr val="FFFFFF"/>
                </a:solidFill>
                <a:latin typeface="Segoe UI"/>
                <a:ea typeface="Segoe UI"/>
                <a:cs typeface="Segoe UI"/>
              </a:defRPr>
            </a:pPr>
            <a:r>
              <a:rPr sz="3825" b="1">
                <a:solidFill>
                  <a:srgbClr val="FFFFFF"/>
                </a:solidFill>
                <a:latin typeface="Segoe UI"/>
                <a:ea typeface="Segoe UI"/>
                <a:cs typeface="Segoe UI"/>
              </a:rPr>
              <a:t>Who needs help with what?</a:t>
            </a:r>
          </a:p>
        </p:txBody>
      </p:sp>
      <p:sp>
        <p:nvSpPr>
          <p:cNvPr id="3" name="">
            <a:extLst xmlns:a="http://schemas.openxmlformats.org/drawingml/2006/main">
              <a:ext uri="{FF2B5EF4-FFF2-40B4-BE49-F238E27FC236}">
                <a16:creationId xmlns:a16="http://schemas.microsoft.com/office/drawing/2014/main" id="{D5F6348F-A6B4-491A-A0BA-684BF4421D1E}"/>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9EC2CB"/>
                </a:solidFill>
                <a:latin typeface="Segoe UI"/>
                <a:ea typeface="Segoe UI"/>
                <a:cs typeface="Segoe UI"/>
              </a:defRPr>
            </a:defPPr>
          </a:lstStyle>
          <a:p xmlns:a="http://schemas.openxmlformats.org/drawingml/2006/main">
            <a:pPr>
              <a:defRPr sz="1350" b="1">
                <a:solidFill>
                  <a:srgbClr val="9EC2CB"/>
                </a:solidFill>
                <a:latin typeface="Segoe UI"/>
                <a:ea typeface="Segoe UI"/>
                <a:cs typeface="Segoe UI"/>
              </a:defRPr>
            </a:pPr>
            <a:r>
              <a:rPr sz="1350" b="1">
                <a:solidFill>
                  <a:srgbClr val="9EC2CB"/>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2F0591E2-9FCB-4EBD-8352-7522CDA87499}"/>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9EC2CB"/>
                </a:solidFill>
                <a:latin typeface="Segoe UI"/>
                <a:ea typeface="Segoe UI"/>
                <a:cs typeface="Segoe UI"/>
              </a:defRPr>
            </a:defPPr>
          </a:lstStyle>
          <a:p xmlns:a="http://schemas.openxmlformats.org/drawingml/2006/main">
            <a:pPr>
              <a:defRPr sz="1350" b="0">
                <a:solidFill>
                  <a:srgbClr val="9EC2CB"/>
                </a:solidFill>
                <a:latin typeface="Segoe UI"/>
                <a:ea typeface="Segoe UI"/>
                <a:cs typeface="Segoe UI"/>
              </a:defRPr>
            </a:pPr>
            <a:r>
              <a:rPr sz="1350" b="0">
                <a:solidFill>
                  <a:srgbClr val="9EC2CB"/>
                </a:solidFill>
                <a:latin typeface="Segoe UI"/>
                <a:ea typeface="Segoe UI"/>
                <a:cs typeface="Segoe UI"/>
              </a:rPr>
              <a:t>01</a:t>
            </a:r>
          </a:p>
        </p:txBody>
      </p:sp>
      <p:sp>
        <p:nvSpPr>
          <p:cNvPr id="5" name="">
            <a:extLst xmlns:a="http://schemas.openxmlformats.org/drawingml/2006/main">
              <a:ext uri="{FF2B5EF4-FFF2-40B4-BE49-F238E27FC236}">
                <a16:creationId xmlns:a16="http://schemas.microsoft.com/office/drawing/2014/main" id="{FFB1ACCE-719E-4455-8859-4DC895AD1336}"/>
              </a:ext>
            </a:extLst>
          </p:cNvPr>
          <p:cNvSpPr>
            <a:spLocks xmlns:a="http://schemas.openxmlformats.org/drawingml/2006/main" noGrp="1"/>
          </p:cNvSpPr>
          <p:nvPr/>
        </p:nvSpPr>
        <p:spPr>
          <a:xfrm xmlns:a="http://schemas.openxmlformats.org/drawingml/2006/main">
            <a:off x="590550" y="2152650"/>
            <a:ext cx="657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FFFFF"/>
                </a:solidFill>
                <a:latin typeface="Segoe UI"/>
                <a:ea typeface="Segoe UI"/>
                <a:cs typeface="Segoe UI"/>
              </a:defRPr>
            </a:defPPr>
          </a:lstStyle>
          <a:p xmlns:a="http://schemas.openxmlformats.org/drawingml/2006/main">
            <a:pPr>
              <a:defRPr sz="5700" b="1">
                <a:solidFill>
                  <a:srgbClr val="FFFFFF"/>
                </a:solidFill>
                <a:latin typeface="Segoe UI"/>
                <a:ea typeface="Segoe UI"/>
                <a:cs typeface="Segoe UI"/>
              </a:defRPr>
            </a:pPr>
            <a:r>
              <a:rPr sz="5700" b="1">
                <a:solidFill>
                  <a:srgbClr val="FFFFFF"/>
                </a:solidFill>
                <a:latin typeface="Segoe UI"/>
                <a:ea typeface="Segoe UI"/>
                <a:cs typeface="Segoe UI"/>
              </a:rPr>
              <a:t>EduPulse</a:t>
            </a:r>
          </a:p>
        </p:txBody>
      </p:sp>
      <p:sp>
        <p:nvSpPr>
          <p:cNvPr id="6" name="">
            <a:extLst xmlns:a="http://schemas.openxmlformats.org/drawingml/2006/main">
              <a:ext uri="{FF2B5EF4-FFF2-40B4-BE49-F238E27FC236}">
                <a16:creationId xmlns:a16="http://schemas.microsoft.com/office/drawing/2014/main" id="{52B0F900-E1B8-477B-B423-DEAE09608163}"/>
              </a:ext>
            </a:extLst>
          </p:cNvPr>
          <p:cNvSpPr>
            <a:spLocks xmlns:a="http://schemas.openxmlformats.org/drawingml/2006/main" noGrp="1"/>
          </p:cNvSpPr>
          <p:nvPr/>
        </p:nvSpPr>
        <p:spPr>
          <a:xfrm xmlns:a="http://schemas.openxmlformats.org/drawingml/2006/main">
            <a:off x="628650" y="3286125"/>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76D4BF"/>
                </a:solidFill>
                <a:latin typeface="Segoe UI"/>
                <a:ea typeface="Segoe UI"/>
                <a:cs typeface="Segoe UI"/>
              </a:defRPr>
            </a:defPPr>
          </a:lstStyle>
          <a:p xmlns:a="http://schemas.openxmlformats.org/drawingml/2006/main">
            <a:pPr>
              <a:defRPr sz="2550" b="0">
                <a:solidFill>
                  <a:srgbClr val="76D4BF"/>
                </a:solidFill>
                <a:latin typeface="Segoe UI"/>
                <a:ea typeface="Segoe UI"/>
                <a:cs typeface="Segoe UI"/>
              </a:defRPr>
            </a:pPr>
            <a:r>
              <a:rPr sz="2550" b="0">
                <a:solidFill>
                  <a:srgbClr val="76D4BF"/>
                </a:solidFill>
                <a:latin typeface="Segoe UI"/>
                <a:ea typeface="Segoe UI"/>
                <a:cs typeface="Segoe UI"/>
              </a:rPr>
              <a:t>A clear next step for every learner</a:t>
            </a:r>
          </a:p>
        </p:txBody>
      </p:sp>
      <p:sp>
        <p:nvSpPr>
          <p:cNvPr id="7" name="">
            <a:extLst xmlns:a="http://schemas.openxmlformats.org/drawingml/2006/main">
              <a:ext uri="{FF2B5EF4-FFF2-40B4-BE49-F238E27FC236}">
                <a16:creationId xmlns:a16="http://schemas.microsoft.com/office/drawing/2014/main" id="{1A5B2573-14F1-4F77-B02B-A5063C203DF6}"/>
              </a:ext>
            </a:extLst>
          </p:cNvPr>
          <p:cNvSpPr>
            <a:spLocks xmlns:a="http://schemas.openxmlformats.org/drawingml/2006/main" noGrp="1"/>
          </p:cNvSpPr>
          <p:nvPr/>
        </p:nvSpPr>
        <p:spPr>
          <a:xfrm xmlns:a="http://schemas.openxmlformats.org/drawingml/2006/main">
            <a:off x="628650" y="527685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ED5DB"/>
                </a:solidFill>
                <a:latin typeface="Segoe UI"/>
                <a:ea typeface="Segoe UI"/>
                <a:cs typeface="Segoe UI"/>
              </a:defRPr>
            </a:defPPr>
          </a:lstStyle>
          <a:p xmlns:a="http://schemas.openxmlformats.org/drawingml/2006/main">
            <a:pPr>
              <a:defRPr sz="1800" b="0">
                <a:solidFill>
                  <a:srgbClr val="BED5DB"/>
                </a:solidFill>
                <a:latin typeface="Segoe UI"/>
                <a:ea typeface="Segoe UI"/>
                <a:cs typeface="Segoe UI"/>
              </a:defRPr>
            </a:pPr>
            <a:r>
              <a:rPr sz="1800" b="0">
                <a:solidFill>
                  <a:srgbClr val="BED5DB"/>
                </a:solidFill>
                <a:latin typeface="Segoe UI"/>
                <a:ea typeface="Segoe UI"/>
                <a:cs typeface="Segoe UI"/>
              </a:rPr>
              <a:t>J Don Gabriel  /  One Man Army</a:t>
            </a:r>
          </a:p>
        </p:txBody>
      </p:sp>
      <p:sp>
        <p:nvSpPr>
          <p:cNvPr id="8" name="">
            <a:extLst xmlns:a="http://schemas.openxmlformats.org/drawingml/2006/main">
              <a:ext uri="{FF2B5EF4-FFF2-40B4-BE49-F238E27FC236}">
                <a16:creationId xmlns:a16="http://schemas.microsoft.com/office/drawing/2014/main" id="{343F7597-6DA2-4FFE-B633-3513FA2207BE}"/>
              </a:ext>
            </a:extLst>
          </p:cNvPr>
          <p:cNvSpPr>
            <a:spLocks xmlns:a="http://schemas.openxmlformats.org/drawingml/2006/main" noGrp="1"/>
          </p:cNvSpPr>
          <p:nvPr/>
        </p:nvSpPr>
        <p:spPr>
          <a:xfrm xmlns:a="http://schemas.openxmlformats.org/drawingml/2006/main">
            <a:off x="8582025" y="2152650"/>
            <a:ext cx="2571750" cy="3143250"/>
          </a:xfrm>
          <a:prstGeom xmlns:a="http://schemas.openxmlformats.org/drawingml/2006/main" prst="roundRect">
            <a:avLst>
              <a:gd name="adj" fmla="val 2963"/>
            </a:avLst>
          </a:prstGeom>
          <a:solidFill xmlns:a="http://schemas.openxmlformats.org/drawingml/2006/main">
            <a:srgbClr val="1A465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69C784-B9EE-4552-B2C1-ACAE8FB02F39}"/>
              </a:ext>
            </a:extLst>
          </p:cNvPr>
          <p:cNvSpPr>
            <a:spLocks xmlns:a="http://schemas.openxmlformats.org/drawingml/2006/main" noGrp="1"/>
          </p:cNvSpPr>
          <p:nvPr/>
        </p:nvSpPr>
        <p:spPr>
          <a:xfrm xmlns:a="http://schemas.openxmlformats.org/drawingml/2006/main">
            <a:off x="8934450" y="2419350"/>
            <a:ext cx="2190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500" b="1">
                <a:solidFill>
                  <a:srgbClr val="FFFFFF"/>
                </a:solidFill>
                <a:latin typeface="Segoe UI"/>
                <a:ea typeface="Segoe UI"/>
                <a:cs typeface="Segoe UI"/>
              </a:defRPr>
            </a:defPPr>
          </a:lstStyle>
          <a:p xmlns:a="http://schemas.openxmlformats.org/drawingml/2006/main">
            <a:pPr>
              <a:defRPr sz="7500" b="1">
                <a:solidFill>
                  <a:srgbClr val="FFFFFF"/>
                </a:solidFill>
                <a:latin typeface="Segoe UI"/>
                <a:ea typeface="Segoe UI"/>
                <a:cs typeface="Segoe UI"/>
              </a:defRPr>
            </a:pPr>
            <a:r>
              <a:rPr sz="7500" b="1">
                <a:solidFill>
                  <a:srgbClr val="FFFFFF"/>
                </a:solidFill>
                <a:latin typeface="Segoe UI"/>
                <a:ea typeface="Segoe UI"/>
                <a:cs typeface="Segoe UI"/>
              </a:rPr>
              <a:t>70</a:t>
            </a:r>
          </a:p>
        </p:txBody>
      </p:sp>
      <p:sp>
        <p:nvSpPr>
          <p:cNvPr id="10" name="">
            <a:extLst xmlns:a="http://schemas.openxmlformats.org/drawingml/2006/main">
              <a:ext uri="{FF2B5EF4-FFF2-40B4-BE49-F238E27FC236}">
                <a16:creationId xmlns:a16="http://schemas.microsoft.com/office/drawing/2014/main" id="{D14EBB0A-BD92-4544-8426-E1D57E6B8E28}"/>
              </a:ext>
            </a:extLst>
          </p:cNvPr>
          <p:cNvSpPr>
            <a:spLocks xmlns:a="http://schemas.openxmlformats.org/drawingml/2006/main" noGrp="1"/>
          </p:cNvSpPr>
          <p:nvPr/>
        </p:nvSpPr>
        <p:spPr>
          <a:xfrm xmlns:a="http://schemas.openxmlformats.org/drawingml/2006/main">
            <a:off x="8934450" y="3790950"/>
            <a:ext cx="200025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BED5DB"/>
                </a:solidFill>
                <a:latin typeface="Segoe UI"/>
                <a:ea typeface="Segoe UI"/>
                <a:cs typeface="Segoe UI"/>
              </a:defRPr>
            </a:defPPr>
          </a:lstStyle>
          <a:p xmlns:a="http://schemas.openxmlformats.org/drawingml/2006/main">
            <a:pPr>
              <a:defRPr sz="2100" b="0">
                <a:solidFill>
                  <a:srgbClr val="BED5DB"/>
                </a:solidFill>
                <a:latin typeface="Segoe UI"/>
                <a:ea typeface="Segoe UI"/>
                <a:cs typeface="Segoe UI"/>
              </a:defRPr>
            </a:pPr>
            <a:r>
              <a:rPr sz="2100" b="0">
                <a:solidFill>
                  <a:srgbClr val="BED5DB"/>
                </a:solidFill>
                <a:latin typeface="Segoe UI"/>
                <a:ea typeface="Segoe UI"/>
                <a:cs typeface="Segoe UI"/>
              </a:rPr>
              <a:t>students</a:t>
            </a:r>
          </a:p>
          <a:p xmlns:a="http://schemas.openxmlformats.org/drawingml/2006/main">
            <a:pPr>
              <a:defRPr sz="2100" b="0">
                <a:solidFill>
                  <a:srgbClr val="BED5DB"/>
                </a:solidFill>
                <a:latin typeface="Segoe UI"/>
                <a:ea typeface="Segoe UI"/>
                <a:cs typeface="Segoe UI"/>
              </a:defRPr>
            </a:pPr>
            <a:r>
              <a:rPr sz="2100" b="0">
                <a:solidFill>
                  <a:srgbClr val="BED5DB"/>
                </a:solidFill>
                <a:latin typeface="Segoe UI"/>
                <a:ea typeface="Segoe UI"/>
                <a:cs typeface="Segoe UI"/>
              </a:rPr>
              <a:t>one classroom</a:t>
            </a:r>
          </a:p>
          <a:p xmlns:a="http://schemas.openxmlformats.org/drawingml/2006/main">
            <a:pPr>
              <a:defRPr sz="2100" b="0">
                <a:solidFill>
                  <a:srgbClr val="BED5DB"/>
                </a:solidFill>
                <a:latin typeface="Segoe UI"/>
                <a:ea typeface="Segoe UI"/>
                <a:cs typeface="Segoe UI"/>
              </a:defRPr>
            </a:pPr>
            <a:r>
              <a:rPr sz="2100" b="0">
                <a:solidFill>
                  <a:srgbClr val="BED5DB"/>
                </a:solidFill>
                <a:latin typeface="Segoe UI"/>
                <a:ea typeface="Segoe UI"/>
                <a:cs typeface="Segoe UI"/>
              </a:rPr>
              <a:t>different gaps</a:t>
            </a:r>
          </a:p>
        </p:txBody>
      </p:sp>
    </p:spTree>
    <p:extLst>
      <p:ext uri="{BB962C8B-B14F-4D97-AF65-F5344CB8AC3E}">
        <p14:creationId xmlns:p14="http://schemas.microsoft.com/office/powerpoint/2010/main" val="1778142979"/>
      </p:ext>
    </p:extLst>
  </p:cSld>
</p:sld>
</file>

<file path=ppt/slides/slide2.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36A0D59-B072-4EBA-A2AE-13F7A2FB5937}"/>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B03A73-9BAD-4927-9F14-1522C231F8C7}"/>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A class view that leads to action</a:t>
            </a:r>
          </a:p>
        </p:txBody>
      </p:sp>
      <p:sp>
        <p:nvSpPr>
          <p:cNvPr id="3" name="">
            <a:extLst xmlns:a="http://schemas.openxmlformats.org/drawingml/2006/main">
              <a:ext uri="{FF2B5EF4-FFF2-40B4-BE49-F238E27FC236}">
                <a16:creationId xmlns:a16="http://schemas.microsoft.com/office/drawing/2014/main" id="{63486C18-076B-49B9-8FFB-251EC456B7BD}"/>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24913E3C-49FC-4952-8E16-A02B1D38A54B}"/>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02</a:t>
            </a:r>
          </a:p>
        </p:txBody>
      </p:sp>
      <p:sp>
        <p:nvSpPr>
          <p:cNvPr id="5" name="">
            <a:extLst xmlns:a="http://schemas.openxmlformats.org/drawingml/2006/main">
              <a:ext uri="{FF2B5EF4-FFF2-40B4-BE49-F238E27FC236}">
                <a16:creationId xmlns:a16="http://schemas.microsoft.com/office/drawing/2014/main" id="{E4EC96BC-5F1B-4C0C-9BE0-EDC695E27FE8}"/>
              </a:ext>
            </a:extLst>
          </p:cNvPr>
          <p:cNvSpPr>
            <a:spLocks xmlns:a="http://schemas.openxmlformats.org/drawingml/2006/main" noGrp="1"/>
          </p:cNvSpPr>
          <p:nvPr/>
        </p:nvSpPr>
        <p:spPr>
          <a:xfrm xmlns:a="http://schemas.openxmlformats.org/drawingml/2006/main">
            <a:off x="590550" y="2371725"/>
            <a:ext cx="142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07E77"/>
                </a:solidFill>
                <a:latin typeface="Segoe UI"/>
                <a:ea typeface="Segoe UI"/>
                <a:cs typeface="Segoe UI"/>
              </a:defRPr>
            </a:defPPr>
          </a:lstStyle>
          <a:p xmlns:a="http://schemas.openxmlformats.org/drawingml/2006/main">
            <a:pPr>
              <a:defRPr sz="3900" b="1">
                <a:solidFill>
                  <a:srgbClr val="007E77"/>
                </a:solidFill>
                <a:latin typeface="Segoe UI"/>
                <a:ea typeface="Segoe UI"/>
                <a:cs typeface="Segoe UI"/>
              </a:defRPr>
            </a:pPr>
            <a:r>
              <a:rPr sz="3900" b="1">
                <a:solidFill>
                  <a:srgbClr val="007E77"/>
                </a:solidFill>
                <a:latin typeface="Segoe UI"/>
                <a:ea typeface="Segoe UI"/>
                <a:cs typeface="Segoe UI"/>
              </a:rPr>
              <a:t>01</a:t>
            </a:r>
          </a:p>
        </p:txBody>
      </p:sp>
      <p:sp>
        <p:nvSpPr>
          <p:cNvPr id="6" name="">
            <a:extLst xmlns:a="http://schemas.openxmlformats.org/drawingml/2006/main">
              <a:ext uri="{FF2B5EF4-FFF2-40B4-BE49-F238E27FC236}">
                <a16:creationId xmlns:a16="http://schemas.microsoft.com/office/drawing/2014/main" id="{A8F1E26A-C48F-4EC8-AF1F-072DF1971E2A}"/>
              </a:ext>
            </a:extLst>
          </p:cNvPr>
          <p:cNvSpPr>
            <a:spLocks xmlns:a="http://schemas.openxmlformats.org/drawingml/2006/main" noGrp="1"/>
          </p:cNvSpPr>
          <p:nvPr/>
        </p:nvSpPr>
        <p:spPr>
          <a:xfrm xmlns:a="http://schemas.openxmlformats.org/drawingml/2006/main">
            <a:off x="590550" y="32099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93846"/>
                </a:solidFill>
                <a:latin typeface="Segoe UI"/>
                <a:ea typeface="Segoe UI"/>
                <a:cs typeface="Segoe UI"/>
              </a:defRPr>
            </a:defPPr>
          </a:lstStyle>
          <a:p xmlns:a="http://schemas.openxmlformats.org/drawingml/2006/main">
            <a:pPr>
              <a:defRPr sz="2625" b="1">
                <a:solidFill>
                  <a:srgbClr val="193846"/>
                </a:solidFill>
                <a:latin typeface="Segoe UI"/>
                <a:ea typeface="Segoe UI"/>
                <a:cs typeface="Segoe UI"/>
              </a:defRPr>
            </a:pPr>
            <a:r>
              <a:rPr sz="2625" b="1">
                <a:solidFill>
                  <a:srgbClr val="193846"/>
                </a:solidFill>
                <a:latin typeface="Segoe UI"/>
                <a:ea typeface="Segoe UI"/>
                <a:cs typeface="Segoe UI"/>
              </a:rPr>
              <a:t>Notice</a:t>
            </a:r>
          </a:p>
        </p:txBody>
      </p:sp>
      <p:sp>
        <p:nvSpPr>
          <p:cNvPr id="7" name="">
            <a:extLst xmlns:a="http://schemas.openxmlformats.org/drawingml/2006/main">
              <a:ext uri="{FF2B5EF4-FFF2-40B4-BE49-F238E27FC236}">
                <a16:creationId xmlns:a16="http://schemas.microsoft.com/office/drawing/2014/main" id="{DE865F5B-9680-4031-A329-B3B221C197BC}"/>
              </a:ext>
            </a:extLst>
          </p:cNvPr>
          <p:cNvSpPr>
            <a:spLocks xmlns:a="http://schemas.openxmlformats.org/drawingml/2006/main" noGrp="1"/>
          </p:cNvSpPr>
          <p:nvPr/>
        </p:nvSpPr>
        <p:spPr>
          <a:xfrm xmlns:a="http://schemas.openxmlformats.org/drawingml/2006/main">
            <a:off x="590550" y="3924300"/>
            <a:ext cx="242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F7885"/>
                </a:solidFill>
                <a:latin typeface="Segoe UI"/>
                <a:ea typeface="Segoe UI"/>
                <a:cs typeface="Segoe UI"/>
              </a:defRPr>
            </a:defPPr>
          </a:lstStyle>
          <a:p xmlns:a="http://schemas.openxmlformats.org/drawingml/2006/main">
            <a:pPr>
              <a:defRPr sz="2025" b="0">
                <a:solidFill>
                  <a:srgbClr val="5F7885"/>
                </a:solidFill>
                <a:latin typeface="Segoe UI"/>
                <a:ea typeface="Segoe UI"/>
                <a:cs typeface="Segoe UI"/>
              </a:defRPr>
            </a:pPr>
            <a:r>
              <a:rPr sz="2025" b="0">
                <a:solidFill>
                  <a:srgbClr val="5F7885"/>
                </a:solidFill>
                <a:latin typeface="Segoe UI"/>
                <a:ea typeface="Segoe UI"/>
                <a:cs typeface="Segoe UI"/>
              </a:rPr>
              <a:t>Find the concept gap</a:t>
            </a:r>
          </a:p>
        </p:txBody>
      </p:sp>
      <p:sp>
        <p:nvSpPr>
          <p:cNvPr id="8" name="">
            <a:extLst xmlns:a="http://schemas.openxmlformats.org/drawingml/2006/main">
              <a:ext uri="{FF2B5EF4-FFF2-40B4-BE49-F238E27FC236}">
                <a16:creationId xmlns:a16="http://schemas.microsoft.com/office/drawing/2014/main" id="{EA047F0C-C745-4F06-A95A-AB1C87C2C227}"/>
              </a:ext>
            </a:extLst>
          </p:cNvPr>
          <p:cNvSpPr>
            <a:spLocks xmlns:a="http://schemas.openxmlformats.org/drawingml/2006/main" noGrp="1"/>
          </p:cNvSpPr>
          <p:nvPr/>
        </p:nvSpPr>
        <p:spPr>
          <a:xfrm xmlns:a="http://schemas.openxmlformats.org/drawingml/2006/main">
            <a:off x="2943225" y="3028950"/>
            <a:ext cx="428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007E77"/>
                </a:solidFill>
                <a:latin typeface="Segoe UI"/>
                <a:ea typeface="Segoe UI"/>
                <a:cs typeface="Segoe UI"/>
              </a:defRPr>
            </a:defPPr>
          </a:lstStyle>
          <a:p xmlns:a="http://schemas.openxmlformats.org/drawingml/2006/main">
            <a:pPr>
              <a:defRPr sz="2850" b="0">
                <a:solidFill>
                  <a:srgbClr val="007E77"/>
                </a:solidFill>
                <a:latin typeface="Segoe UI"/>
                <a:ea typeface="Segoe UI"/>
                <a:cs typeface="Segoe UI"/>
              </a:defRPr>
            </a:pPr>
            <a:r>
              <a:rPr sz="2850" b="0">
                <a:solidFill>
                  <a:srgbClr val="007E77"/>
                </a:solidFill>
                <a:latin typeface="Segoe UI"/>
                <a:ea typeface="Segoe UI"/>
                <a:cs typeface="Segoe UI"/>
              </a:rPr>
              <a:t>→</a:t>
            </a:r>
          </a:p>
        </p:txBody>
      </p:sp>
      <p:sp>
        <p:nvSpPr>
          <p:cNvPr id="9" name="">
            <a:extLst xmlns:a="http://schemas.openxmlformats.org/drawingml/2006/main">
              <a:ext uri="{FF2B5EF4-FFF2-40B4-BE49-F238E27FC236}">
                <a16:creationId xmlns:a16="http://schemas.microsoft.com/office/drawing/2014/main" id="{A9E73A56-7D7C-4C4D-9B42-19C6FD6811FC}"/>
              </a:ext>
            </a:extLst>
          </p:cNvPr>
          <p:cNvSpPr>
            <a:spLocks xmlns:a="http://schemas.openxmlformats.org/drawingml/2006/main" noGrp="1"/>
          </p:cNvSpPr>
          <p:nvPr/>
        </p:nvSpPr>
        <p:spPr>
          <a:xfrm xmlns:a="http://schemas.openxmlformats.org/drawingml/2006/main">
            <a:off x="3438525" y="2371725"/>
            <a:ext cx="142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07E77"/>
                </a:solidFill>
                <a:latin typeface="Segoe UI"/>
                <a:ea typeface="Segoe UI"/>
                <a:cs typeface="Segoe UI"/>
              </a:defRPr>
            </a:defPPr>
          </a:lstStyle>
          <a:p xmlns:a="http://schemas.openxmlformats.org/drawingml/2006/main">
            <a:pPr>
              <a:defRPr sz="3900" b="1">
                <a:solidFill>
                  <a:srgbClr val="007E77"/>
                </a:solidFill>
                <a:latin typeface="Segoe UI"/>
                <a:ea typeface="Segoe UI"/>
                <a:cs typeface="Segoe UI"/>
              </a:defRPr>
            </a:pPr>
            <a:r>
              <a:rPr sz="3900" b="1">
                <a:solidFill>
                  <a:srgbClr val="007E77"/>
                </a:solidFill>
                <a:latin typeface="Segoe UI"/>
                <a:ea typeface="Segoe UI"/>
                <a:cs typeface="Segoe UI"/>
              </a:rPr>
              <a:t>02</a:t>
            </a:r>
          </a:p>
        </p:txBody>
      </p:sp>
      <p:sp>
        <p:nvSpPr>
          <p:cNvPr id="10" name="">
            <a:extLst xmlns:a="http://schemas.openxmlformats.org/drawingml/2006/main">
              <a:ext uri="{FF2B5EF4-FFF2-40B4-BE49-F238E27FC236}">
                <a16:creationId xmlns:a16="http://schemas.microsoft.com/office/drawing/2014/main" id="{88B829A3-5A26-4E48-8C7A-6E96299CDC17}"/>
              </a:ext>
            </a:extLst>
          </p:cNvPr>
          <p:cNvSpPr>
            <a:spLocks xmlns:a="http://schemas.openxmlformats.org/drawingml/2006/main" noGrp="1"/>
          </p:cNvSpPr>
          <p:nvPr/>
        </p:nvSpPr>
        <p:spPr>
          <a:xfrm xmlns:a="http://schemas.openxmlformats.org/drawingml/2006/main">
            <a:off x="3438525" y="32099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93846"/>
                </a:solidFill>
                <a:latin typeface="Segoe UI"/>
                <a:ea typeface="Segoe UI"/>
                <a:cs typeface="Segoe UI"/>
              </a:defRPr>
            </a:defPPr>
          </a:lstStyle>
          <a:p xmlns:a="http://schemas.openxmlformats.org/drawingml/2006/main">
            <a:pPr>
              <a:defRPr sz="2625" b="1">
                <a:solidFill>
                  <a:srgbClr val="193846"/>
                </a:solidFill>
                <a:latin typeface="Segoe UI"/>
                <a:ea typeface="Segoe UI"/>
                <a:cs typeface="Segoe UI"/>
              </a:defRPr>
            </a:pPr>
            <a:r>
              <a:rPr sz="2625" b="1">
                <a:solidFill>
                  <a:srgbClr val="193846"/>
                </a:solidFill>
                <a:latin typeface="Segoe UI"/>
                <a:ea typeface="Segoe UI"/>
                <a:cs typeface="Segoe UI"/>
              </a:rPr>
              <a:t>Support</a:t>
            </a:r>
          </a:p>
        </p:txBody>
      </p:sp>
      <p:sp>
        <p:nvSpPr>
          <p:cNvPr id="11" name="">
            <a:extLst xmlns:a="http://schemas.openxmlformats.org/drawingml/2006/main">
              <a:ext uri="{FF2B5EF4-FFF2-40B4-BE49-F238E27FC236}">
                <a16:creationId xmlns:a16="http://schemas.microsoft.com/office/drawing/2014/main" id="{39137F6F-0C69-4973-9A57-A83B35641410}"/>
              </a:ext>
            </a:extLst>
          </p:cNvPr>
          <p:cNvSpPr>
            <a:spLocks xmlns:a="http://schemas.openxmlformats.org/drawingml/2006/main" noGrp="1"/>
          </p:cNvSpPr>
          <p:nvPr/>
        </p:nvSpPr>
        <p:spPr>
          <a:xfrm xmlns:a="http://schemas.openxmlformats.org/drawingml/2006/main">
            <a:off x="3438525" y="3924300"/>
            <a:ext cx="242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F7885"/>
                </a:solidFill>
                <a:latin typeface="Segoe UI"/>
                <a:ea typeface="Segoe UI"/>
                <a:cs typeface="Segoe UI"/>
              </a:defRPr>
            </a:defPPr>
          </a:lstStyle>
          <a:p xmlns:a="http://schemas.openxmlformats.org/drawingml/2006/main">
            <a:pPr>
              <a:defRPr sz="2025" b="0">
                <a:solidFill>
                  <a:srgbClr val="5F7885"/>
                </a:solidFill>
                <a:latin typeface="Segoe UI"/>
                <a:ea typeface="Segoe UI"/>
                <a:cs typeface="Segoe UI"/>
              </a:defRPr>
            </a:pPr>
            <a:r>
              <a:rPr sz="2025" b="0">
                <a:solidFill>
                  <a:srgbClr val="5F7885"/>
                </a:solidFill>
                <a:latin typeface="Segoe UI"/>
                <a:ea typeface="Segoe UI"/>
                <a:cs typeface="Segoe UI"/>
              </a:rPr>
              <a:t>Open a focused lesson</a:t>
            </a:r>
          </a:p>
        </p:txBody>
      </p:sp>
      <p:sp>
        <p:nvSpPr>
          <p:cNvPr id="12" name="">
            <a:extLst xmlns:a="http://schemas.openxmlformats.org/drawingml/2006/main">
              <a:ext uri="{FF2B5EF4-FFF2-40B4-BE49-F238E27FC236}">
                <a16:creationId xmlns:a16="http://schemas.microsoft.com/office/drawing/2014/main" id="{EB044CEA-84D5-4DB0-9244-AEAB39F004F8}"/>
              </a:ext>
            </a:extLst>
          </p:cNvPr>
          <p:cNvSpPr>
            <a:spLocks xmlns:a="http://schemas.openxmlformats.org/drawingml/2006/main" noGrp="1"/>
          </p:cNvSpPr>
          <p:nvPr/>
        </p:nvSpPr>
        <p:spPr>
          <a:xfrm xmlns:a="http://schemas.openxmlformats.org/drawingml/2006/main">
            <a:off x="5791200" y="3028950"/>
            <a:ext cx="428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007E77"/>
                </a:solidFill>
                <a:latin typeface="Segoe UI"/>
                <a:ea typeface="Segoe UI"/>
                <a:cs typeface="Segoe UI"/>
              </a:defRPr>
            </a:defPPr>
          </a:lstStyle>
          <a:p xmlns:a="http://schemas.openxmlformats.org/drawingml/2006/main">
            <a:pPr>
              <a:defRPr sz="2850" b="0">
                <a:solidFill>
                  <a:srgbClr val="007E77"/>
                </a:solidFill>
                <a:latin typeface="Segoe UI"/>
                <a:ea typeface="Segoe UI"/>
                <a:cs typeface="Segoe UI"/>
              </a:defRPr>
            </a:pPr>
            <a:r>
              <a:rPr sz="2850" b="0">
                <a:solidFill>
                  <a:srgbClr val="007E77"/>
                </a:solidFill>
                <a:latin typeface="Segoe UI"/>
                <a:ea typeface="Segoe UI"/>
                <a:cs typeface="Segoe UI"/>
              </a:rPr>
              <a:t>→</a:t>
            </a:r>
          </a:p>
        </p:txBody>
      </p:sp>
      <p:sp>
        <p:nvSpPr>
          <p:cNvPr id="13" name="">
            <a:extLst xmlns:a="http://schemas.openxmlformats.org/drawingml/2006/main">
              <a:ext uri="{FF2B5EF4-FFF2-40B4-BE49-F238E27FC236}">
                <a16:creationId xmlns:a16="http://schemas.microsoft.com/office/drawing/2014/main" id="{59F7A0A2-6748-4FC2-B386-87F020B52FB8}"/>
              </a:ext>
            </a:extLst>
          </p:cNvPr>
          <p:cNvSpPr>
            <a:spLocks xmlns:a="http://schemas.openxmlformats.org/drawingml/2006/main" noGrp="1"/>
          </p:cNvSpPr>
          <p:nvPr/>
        </p:nvSpPr>
        <p:spPr>
          <a:xfrm xmlns:a="http://schemas.openxmlformats.org/drawingml/2006/main">
            <a:off x="6286500" y="2371725"/>
            <a:ext cx="142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07E77"/>
                </a:solidFill>
                <a:latin typeface="Segoe UI"/>
                <a:ea typeface="Segoe UI"/>
                <a:cs typeface="Segoe UI"/>
              </a:defRPr>
            </a:defPPr>
          </a:lstStyle>
          <a:p xmlns:a="http://schemas.openxmlformats.org/drawingml/2006/main">
            <a:pPr>
              <a:defRPr sz="3900" b="1">
                <a:solidFill>
                  <a:srgbClr val="007E77"/>
                </a:solidFill>
                <a:latin typeface="Segoe UI"/>
                <a:ea typeface="Segoe UI"/>
                <a:cs typeface="Segoe UI"/>
              </a:defRPr>
            </a:pPr>
            <a:r>
              <a:rPr sz="3900" b="1">
                <a:solidFill>
                  <a:srgbClr val="007E77"/>
                </a:solidFill>
                <a:latin typeface="Segoe UI"/>
                <a:ea typeface="Segoe UI"/>
                <a:cs typeface="Segoe UI"/>
              </a:rPr>
              <a:t>03</a:t>
            </a:r>
          </a:p>
        </p:txBody>
      </p:sp>
      <p:sp>
        <p:nvSpPr>
          <p:cNvPr id="14" name="">
            <a:extLst xmlns:a="http://schemas.openxmlformats.org/drawingml/2006/main">
              <a:ext uri="{FF2B5EF4-FFF2-40B4-BE49-F238E27FC236}">
                <a16:creationId xmlns:a16="http://schemas.microsoft.com/office/drawing/2014/main" id="{5DF6F852-E4FF-453E-A600-DE7566B7A8E7}"/>
              </a:ext>
            </a:extLst>
          </p:cNvPr>
          <p:cNvSpPr>
            <a:spLocks xmlns:a="http://schemas.openxmlformats.org/drawingml/2006/main" noGrp="1"/>
          </p:cNvSpPr>
          <p:nvPr/>
        </p:nvSpPr>
        <p:spPr>
          <a:xfrm xmlns:a="http://schemas.openxmlformats.org/drawingml/2006/main">
            <a:off x="6286500" y="32099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93846"/>
                </a:solidFill>
                <a:latin typeface="Segoe UI"/>
                <a:ea typeface="Segoe UI"/>
                <a:cs typeface="Segoe UI"/>
              </a:defRPr>
            </a:defPPr>
          </a:lstStyle>
          <a:p xmlns:a="http://schemas.openxmlformats.org/drawingml/2006/main">
            <a:pPr>
              <a:defRPr sz="2625" b="1">
                <a:solidFill>
                  <a:srgbClr val="193846"/>
                </a:solidFill>
                <a:latin typeface="Segoe UI"/>
                <a:ea typeface="Segoe UI"/>
                <a:cs typeface="Segoe UI"/>
              </a:defRPr>
            </a:pPr>
            <a:r>
              <a:rPr sz="2625" b="1">
                <a:solidFill>
                  <a:srgbClr val="193846"/>
                </a:solidFill>
                <a:latin typeface="Segoe UI"/>
                <a:ea typeface="Segoe UI"/>
                <a:cs typeface="Segoe UI"/>
              </a:rPr>
              <a:t>Check</a:t>
            </a:r>
          </a:p>
        </p:txBody>
      </p:sp>
      <p:sp>
        <p:nvSpPr>
          <p:cNvPr id="15" name="">
            <a:extLst xmlns:a="http://schemas.openxmlformats.org/drawingml/2006/main">
              <a:ext uri="{FF2B5EF4-FFF2-40B4-BE49-F238E27FC236}">
                <a16:creationId xmlns:a16="http://schemas.microsoft.com/office/drawing/2014/main" id="{19C7C755-86B4-40D8-BCD8-8B00F1462A60}"/>
              </a:ext>
            </a:extLst>
          </p:cNvPr>
          <p:cNvSpPr>
            <a:spLocks xmlns:a="http://schemas.openxmlformats.org/drawingml/2006/main" noGrp="1"/>
          </p:cNvSpPr>
          <p:nvPr/>
        </p:nvSpPr>
        <p:spPr>
          <a:xfrm xmlns:a="http://schemas.openxmlformats.org/drawingml/2006/main">
            <a:off x="6286500" y="3924300"/>
            <a:ext cx="242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F7885"/>
                </a:solidFill>
                <a:latin typeface="Segoe UI"/>
                <a:ea typeface="Segoe UI"/>
                <a:cs typeface="Segoe UI"/>
              </a:defRPr>
            </a:defPPr>
          </a:lstStyle>
          <a:p xmlns:a="http://schemas.openxmlformats.org/drawingml/2006/main">
            <a:pPr>
              <a:defRPr sz="2025" b="0">
                <a:solidFill>
                  <a:srgbClr val="5F7885"/>
                </a:solidFill>
                <a:latin typeface="Segoe UI"/>
                <a:ea typeface="Segoe UI"/>
                <a:cs typeface="Segoe UI"/>
              </a:defRPr>
            </a:pPr>
            <a:r>
              <a:rPr sz="2025" b="0">
                <a:solidFill>
                  <a:srgbClr val="5F7885"/>
                </a:solidFill>
                <a:latin typeface="Segoe UI"/>
                <a:ea typeface="Segoe UI"/>
                <a:cs typeface="Segoe UI"/>
              </a:rPr>
              <a:t>Save independent answers</a:t>
            </a:r>
          </a:p>
        </p:txBody>
      </p:sp>
      <p:sp>
        <p:nvSpPr>
          <p:cNvPr id="16" name="">
            <a:extLst xmlns:a="http://schemas.openxmlformats.org/drawingml/2006/main">
              <a:ext uri="{FF2B5EF4-FFF2-40B4-BE49-F238E27FC236}">
                <a16:creationId xmlns:a16="http://schemas.microsoft.com/office/drawing/2014/main" id="{D06AE66C-16FE-490A-ACD4-8C367DD2E121}"/>
              </a:ext>
            </a:extLst>
          </p:cNvPr>
          <p:cNvSpPr>
            <a:spLocks xmlns:a="http://schemas.openxmlformats.org/drawingml/2006/main" noGrp="1"/>
          </p:cNvSpPr>
          <p:nvPr/>
        </p:nvSpPr>
        <p:spPr>
          <a:xfrm xmlns:a="http://schemas.openxmlformats.org/drawingml/2006/main">
            <a:off x="8639175" y="3028950"/>
            <a:ext cx="428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007E77"/>
                </a:solidFill>
                <a:latin typeface="Segoe UI"/>
                <a:ea typeface="Segoe UI"/>
                <a:cs typeface="Segoe UI"/>
              </a:defRPr>
            </a:defPPr>
          </a:lstStyle>
          <a:p xmlns:a="http://schemas.openxmlformats.org/drawingml/2006/main">
            <a:pPr>
              <a:defRPr sz="2850" b="0">
                <a:solidFill>
                  <a:srgbClr val="007E77"/>
                </a:solidFill>
                <a:latin typeface="Segoe UI"/>
                <a:ea typeface="Segoe UI"/>
                <a:cs typeface="Segoe UI"/>
              </a:defRPr>
            </a:pPr>
            <a:r>
              <a:rPr sz="2850" b="0">
                <a:solidFill>
                  <a:srgbClr val="007E77"/>
                </a:solidFill>
                <a:latin typeface="Segoe UI"/>
                <a:ea typeface="Segoe UI"/>
                <a:cs typeface="Segoe UI"/>
              </a:rPr>
              <a:t>→</a:t>
            </a:r>
          </a:p>
        </p:txBody>
      </p:sp>
      <p:sp>
        <p:nvSpPr>
          <p:cNvPr id="17" name="">
            <a:extLst xmlns:a="http://schemas.openxmlformats.org/drawingml/2006/main">
              <a:ext uri="{FF2B5EF4-FFF2-40B4-BE49-F238E27FC236}">
                <a16:creationId xmlns:a16="http://schemas.microsoft.com/office/drawing/2014/main" id="{40F57160-DBFC-4C4C-BC1E-EFC783825083}"/>
              </a:ext>
            </a:extLst>
          </p:cNvPr>
          <p:cNvSpPr>
            <a:spLocks xmlns:a="http://schemas.openxmlformats.org/drawingml/2006/main" noGrp="1"/>
          </p:cNvSpPr>
          <p:nvPr/>
        </p:nvSpPr>
        <p:spPr>
          <a:xfrm xmlns:a="http://schemas.openxmlformats.org/drawingml/2006/main">
            <a:off x="9134475" y="2371725"/>
            <a:ext cx="142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07E77"/>
                </a:solidFill>
                <a:latin typeface="Segoe UI"/>
                <a:ea typeface="Segoe UI"/>
                <a:cs typeface="Segoe UI"/>
              </a:defRPr>
            </a:defPPr>
          </a:lstStyle>
          <a:p xmlns:a="http://schemas.openxmlformats.org/drawingml/2006/main">
            <a:pPr>
              <a:defRPr sz="3900" b="1">
                <a:solidFill>
                  <a:srgbClr val="007E77"/>
                </a:solidFill>
                <a:latin typeface="Segoe UI"/>
                <a:ea typeface="Segoe UI"/>
                <a:cs typeface="Segoe UI"/>
              </a:defRPr>
            </a:pPr>
            <a:r>
              <a:rPr sz="3900" b="1">
                <a:solidFill>
                  <a:srgbClr val="007E77"/>
                </a:solidFill>
                <a:latin typeface="Segoe UI"/>
                <a:ea typeface="Segoe UI"/>
                <a:cs typeface="Segoe UI"/>
              </a:rPr>
              <a:t>04</a:t>
            </a:r>
          </a:p>
        </p:txBody>
      </p:sp>
      <p:sp>
        <p:nvSpPr>
          <p:cNvPr id="18" name="">
            <a:extLst xmlns:a="http://schemas.openxmlformats.org/drawingml/2006/main">
              <a:ext uri="{FF2B5EF4-FFF2-40B4-BE49-F238E27FC236}">
                <a16:creationId xmlns:a16="http://schemas.microsoft.com/office/drawing/2014/main" id="{8DD7BA7B-1D23-4486-BAC0-0BEE08E30C61}"/>
              </a:ext>
            </a:extLst>
          </p:cNvPr>
          <p:cNvSpPr>
            <a:spLocks xmlns:a="http://schemas.openxmlformats.org/drawingml/2006/main" noGrp="1"/>
          </p:cNvSpPr>
          <p:nvPr/>
        </p:nvSpPr>
        <p:spPr>
          <a:xfrm xmlns:a="http://schemas.openxmlformats.org/drawingml/2006/main">
            <a:off x="9134475" y="320992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93846"/>
                </a:solidFill>
                <a:latin typeface="Segoe UI"/>
                <a:ea typeface="Segoe UI"/>
                <a:cs typeface="Segoe UI"/>
              </a:defRPr>
            </a:defPPr>
          </a:lstStyle>
          <a:p xmlns:a="http://schemas.openxmlformats.org/drawingml/2006/main">
            <a:pPr>
              <a:defRPr sz="2625" b="1">
                <a:solidFill>
                  <a:srgbClr val="193846"/>
                </a:solidFill>
                <a:latin typeface="Segoe UI"/>
                <a:ea typeface="Segoe UI"/>
                <a:cs typeface="Segoe UI"/>
              </a:defRPr>
            </a:pPr>
            <a:r>
              <a:rPr sz="2625" b="1">
                <a:solidFill>
                  <a:srgbClr val="193846"/>
                </a:solidFill>
                <a:latin typeface="Segoe UI"/>
                <a:ea typeface="Segoe UI"/>
                <a:cs typeface="Segoe UI"/>
              </a:rPr>
              <a:t>Follow up</a:t>
            </a:r>
          </a:p>
        </p:txBody>
      </p:sp>
      <p:sp>
        <p:nvSpPr>
          <p:cNvPr id="19" name="">
            <a:extLst xmlns:a="http://schemas.openxmlformats.org/drawingml/2006/main">
              <a:ext uri="{FF2B5EF4-FFF2-40B4-BE49-F238E27FC236}">
                <a16:creationId xmlns:a16="http://schemas.microsoft.com/office/drawing/2014/main" id="{C84AB90D-5A3A-40E1-A48F-AC016D5FFEFC}"/>
              </a:ext>
            </a:extLst>
          </p:cNvPr>
          <p:cNvSpPr>
            <a:spLocks xmlns:a="http://schemas.openxmlformats.org/drawingml/2006/main" noGrp="1"/>
          </p:cNvSpPr>
          <p:nvPr/>
        </p:nvSpPr>
        <p:spPr>
          <a:xfrm xmlns:a="http://schemas.openxmlformats.org/drawingml/2006/main">
            <a:off x="9134475" y="3924300"/>
            <a:ext cx="2428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F7885"/>
                </a:solidFill>
                <a:latin typeface="Segoe UI"/>
                <a:ea typeface="Segoe UI"/>
                <a:cs typeface="Segoe UI"/>
              </a:defRPr>
            </a:defPPr>
          </a:lstStyle>
          <a:p xmlns:a="http://schemas.openxmlformats.org/drawingml/2006/main">
            <a:pPr>
              <a:defRPr sz="2025" b="0">
                <a:solidFill>
                  <a:srgbClr val="5F7885"/>
                </a:solidFill>
                <a:latin typeface="Segoe UI"/>
                <a:ea typeface="Segoe UI"/>
                <a:cs typeface="Segoe UI"/>
              </a:defRPr>
            </a:pPr>
            <a:r>
              <a:rPr sz="2025" b="0">
                <a:solidFill>
                  <a:srgbClr val="5F7885"/>
                </a:solidFill>
                <a:latin typeface="Segoe UI"/>
                <a:ea typeface="Segoe UI"/>
                <a:cs typeface="Segoe UI"/>
              </a:rPr>
              <a:t>Choose the next action</a:t>
            </a:r>
          </a:p>
        </p:txBody>
      </p:sp>
      <p:sp>
        <p:nvSpPr>
          <p:cNvPr id="20" name="">
            <a:extLst xmlns:a="http://schemas.openxmlformats.org/drawingml/2006/main">
              <a:ext uri="{FF2B5EF4-FFF2-40B4-BE49-F238E27FC236}">
                <a16:creationId xmlns:a16="http://schemas.microsoft.com/office/drawing/2014/main" id="{87C337D1-CCB6-4ED7-98A8-9716F05388AB}"/>
              </a:ext>
            </a:extLst>
          </p:cNvPr>
          <p:cNvSpPr>
            <a:spLocks xmlns:a="http://schemas.openxmlformats.org/drawingml/2006/main" noGrp="1"/>
          </p:cNvSpPr>
          <p:nvPr/>
        </p:nvSpPr>
        <p:spPr>
          <a:xfrm xmlns:a="http://schemas.openxmlformats.org/drawingml/2006/main">
            <a:off x="590550" y="5486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93846"/>
                </a:solidFill>
                <a:latin typeface="Segoe UI"/>
                <a:ea typeface="Segoe UI"/>
                <a:cs typeface="Segoe UI"/>
              </a:defRPr>
            </a:defPPr>
          </a:lstStyle>
          <a:p xmlns:a="http://schemas.openxmlformats.org/drawingml/2006/main">
            <a:pPr>
              <a:defRPr sz="2025" b="0">
                <a:solidFill>
                  <a:srgbClr val="193846"/>
                </a:solidFill>
                <a:latin typeface="Segoe UI"/>
                <a:ea typeface="Segoe UI"/>
                <a:cs typeface="Segoe UI"/>
              </a:defRPr>
            </a:pPr>
            <a:r>
              <a:rPr sz="2025" b="0">
                <a:solidFill>
                  <a:srgbClr val="193846"/>
                </a:solidFill>
                <a:latin typeface="Segoe UI"/>
                <a:ea typeface="Segoe UI"/>
                <a:cs typeface="Segoe UI"/>
              </a:rPr>
              <a:t>CSE Year 1  •  Python Foundations  •  70 student profiles</a:t>
            </a:r>
          </a:p>
        </p:txBody>
      </p:sp>
    </p:spTree>
    <p:extLst>
      <p:ext uri="{BB962C8B-B14F-4D97-AF65-F5344CB8AC3E}">
        <p14:creationId xmlns:p14="http://schemas.microsoft.com/office/powerpoint/2010/main" val="2042566629"/>
      </p:ext>
    </p:extLst>
  </p:cSld>
</p:sld>
</file>

<file path=ppt/slides/slide3.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72FBBC1-E61E-4270-9CE4-8E39406CC3E1}"/>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3F52D6-8815-4BE9-9415-DD5A9E098558}"/>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Asha: find the concept that needs support</a:t>
            </a:r>
          </a:p>
        </p:txBody>
      </p:sp>
      <p:sp>
        <p:nvSpPr>
          <p:cNvPr id="3" name="">
            <a:extLst xmlns:a="http://schemas.openxmlformats.org/drawingml/2006/main">
              <a:ext uri="{FF2B5EF4-FFF2-40B4-BE49-F238E27FC236}">
                <a16:creationId xmlns:a16="http://schemas.microsoft.com/office/drawing/2014/main" id="{B073D5C1-7C56-4E67-AAFE-E25C4BBC80C8}"/>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50E1F821-A004-4344-A047-669D323C28A1}"/>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03</a:t>
            </a:r>
          </a:p>
        </p:txBody>
      </p:sp>
      <p:sp>
        <p:nvSpPr>
          <p:cNvPr id="5" name="">
            <a:extLst xmlns:a="http://schemas.openxmlformats.org/drawingml/2006/main">
              <a:ext uri="{FF2B5EF4-FFF2-40B4-BE49-F238E27FC236}">
                <a16:creationId xmlns:a16="http://schemas.microsoft.com/office/drawing/2014/main" id="{079749BA-4195-49AD-8092-0A0A1BD7A8B3}"/>
              </a:ext>
            </a:extLst>
          </p:cNvPr>
          <p:cNvSpPr>
            <a:spLocks xmlns:a="http://schemas.openxmlformats.org/drawingml/2006/main" noGrp="1"/>
          </p:cNvSpPr>
          <p:nvPr/>
        </p:nvSpPr>
        <p:spPr>
          <a:xfrm xmlns:a="http://schemas.openxmlformats.org/drawingml/2006/main">
            <a:off x="590550" y="2305050"/>
            <a:ext cx="5334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75" b="1">
                <a:solidFill>
                  <a:srgbClr val="193846"/>
                </a:solidFill>
                <a:latin typeface="Segoe UI"/>
                <a:ea typeface="Segoe UI"/>
                <a:cs typeface="Segoe UI"/>
              </a:defRPr>
            </a:defPPr>
          </a:lstStyle>
          <a:p xmlns:a="http://schemas.openxmlformats.org/drawingml/2006/main">
            <a:pPr>
              <a:defRPr sz="3075" b="1">
                <a:solidFill>
                  <a:srgbClr val="193846"/>
                </a:solidFill>
                <a:latin typeface="Segoe UI"/>
                <a:ea typeface="Segoe UI"/>
                <a:cs typeface="Segoe UI"/>
              </a:defRPr>
            </a:pPr>
            <a:r>
              <a:rPr sz="3075" b="1">
                <a:solidFill>
                  <a:srgbClr val="193846"/>
                </a:solidFill>
                <a:latin typeface="Segoe UI"/>
                <a:ea typeface="Segoe UI"/>
                <a:cs typeface="Segoe UI"/>
              </a:rPr>
              <a:t>Attendance tells part</a:t>
            </a:r>
          </a:p>
          <a:p xmlns:a="http://schemas.openxmlformats.org/drawingml/2006/main">
            <a:pPr>
              <a:defRPr sz="3075" b="1">
                <a:solidFill>
                  <a:srgbClr val="193846"/>
                </a:solidFill>
                <a:latin typeface="Segoe UI"/>
                <a:ea typeface="Segoe UI"/>
                <a:cs typeface="Segoe UI"/>
              </a:defRPr>
            </a:pPr>
            <a:r>
              <a:rPr sz="3075" b="1">
                <a:solidFill>
                  <a:srgbClr val="193846"/>
                </a:solidFill>
                <a:latin typeface="Segoe UI"/>
                <a:ea typeface="Segoe UI"/>
                <a:cs typeface="Segoe UI"/>
              </a:rPr>
              <a:t>of the story</a:t>
            </a:r>
          </a:p>
        </p:txBody>
      </p:sp>
      <p:sp>
        <p:nvSpPr>
          <p:cNvPr id="6" name="">
            <a:extLst xmlns:a="http://schemas.openxmlformats.org/drawingml/2006/main">
              <a:ext uri="{FF2B5EF4-FFF2-40B4-BE49-F238E27FC236}">
                <a16:creationId xmlns:a16="http://schemas.microsoft.com/office/drawing/2014/main" id="{E56ED04F-EDBC-4ADB-BA59-4469033CF016}"/>
              </a:ext>
            </a:extLst>
          </p:cNvPr>
          <p:cNvSpPr>
            <a:spLocks xmlns:a="http://schemas.openxmlformats.org/drawingml/2006/main" noGrp="1"/>
          </p:cNvSpPr>
          <p:nvPr/>
        </p:nvSpPr>
        <p:spPr>
          <a:xfrm xmlns:a="http://schemas.openxmlformats.org/drawingml/2006/main">
            <a:off x="590550" y="3914775"/>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F7885"/>
                </a:solidFill>
                <a:latin typeface="Segoe UI"/>
                <a:ea typeface="Segoe UI"/>
                <a:cs typeface="Segoe UI"/>
              </a:defRPr>
            </a:defPPr>
          </a:lstStyle>
          <a:p xmlns:a="http://schemas.openxmlformats.org/drawingml/2006/main">
            <a:pPr>
              <a:defRPr sz="2175" b="0">
                <a:solidFill>
                  <a:srgbClr val="5F7885"/>
                </a:solidFill>
                <a:latin typeface="Segoe UI"/>
                <a:ea typeface="Segoe UI"/>
                <a:cs typeface="Segoe UI"/>
              </a:defRPr>
            </a:pPr>
            <a:r>
              <a:rPr sz="2175" b="0">
                <a:solidFill>
                  <a:srgbClr val="5F7885"/>
                </a:solidFill>
                <a:latin typeface="Segoe UI"/>
                <a:ea typeface="Segoe UI"/>
                <a:cs typeface="Segoe UI"/>
              </a:rPr>
              <a:t>Inspect responses alongside attendance and assignment completion.</a:t>
            </a:r>
          </a:p>
        </p:txBody>
      </p:sp>
      <p:sp>
        <p:nvSpPr>
          <p:cNvPr id="7" name="">
            <a:extLst xmlns:a="http://schemas.openxmlformats.org/drawingml/2006/main">
              <a:ext uri="{FF2B5EF4-FFF2-40B4-BE49-F238E27FC236}">
                <a16:creationId xmlns:a16="http://schemas.microsoft.com/office/drawing/2014/main" id="{B9D1B845-AA58-4C21-AD73-5630CFE5DFAE}"/>
              </a:ext>
            </a:extLst>
          </p:cNvPr>
          <p:cNvSpPr>
            <a:spLocks xmlns:a="http://schemas.openxmlformats.org/drawingml/2006/main" noGrp="1"/>
          </p:cNvSpPr>
          <p:nvPr/>
        </p:nvSpPr>
        <p:spPr>
          <a:xfrm xmlns:a="http://schemas.openxmlformats.org/drawingml/2006/main">
            <a:off x="6610350" y="2286000"/>
            <a:ext cx="3905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93846"/>
                </a:solidFill>
                <a:latin typeface="Segoe UI"/>
                <a:ea typeface="Segoe UI"/>
                <a:cs typeface="Segoe UI"/>
              </a:defRPr>
            </a:defPPr>
          </a:lstStyle>
          <a:p xmlns:a="http://schemas.openxmlformats.org/drawingml/2006/main">
            <a:pPr>
              <a:defRPr sz="2100" b="1">
                <a:solidFill>
                  <a:srgbClr val="193846"/>
                </a:solidFill>
                <a:latin typeface="Segoe UI"/>
                <a:ea typeface="Segoe UI"/>
                <a:cs typeface="Segoe UI"/>
              </a:defRPr>
            </a:pPr>
            <a:r>
              <a:rPr sz="2100" b="1">
                <a:solidFill>
                  <a:srgbClr val="193846"/>
                </a:solidFill>
                <a:latin typeface="Segoe UI"/>
                <a:ea typeface="Segoe UI"/>
                <a:cs typeface="Segoe UI"/>
              </a:rPr>
              <a:t>Loop boundaries</a:t>
            </a:r>
          </a:p>
        </p:txBody>
      </p:sp>
      <p:sp>
        <p:nvSpPr>
          <p:cNvPr id="8" name="">
            <a:extLst xmlns:a="http://schemas.openxmlformats.org/drawingml/2006/main">
              <a:ext uri="{FF2B5EF4-FFF2-40B4-BE49-F238E27FC236}">
                <a16:creationId xmlns:a16="http://schemas.microsoft.com/office/drawing/2014/main" id="{5B24DAE7-1F55-40AB-B0FD-F7D611560B80}"/>
              </a:ext>
            </a:extLst>
          </p:cNvPr>
          <p:cNvSpPr>
            <a:spLocks xmlns:a="http://schemas.openxmlformats.org/drawingml/2006/main" noGrp="1"/>
          </p:cNvSpPr>
          <p:nvPr/>
        </p:nvSpPr>
        <p:spPr>
          <a:xfrm xmlns:a="http://schemas.openxmlformats.org/drawingml/2006/main">
            <a:off x="6610350" y="2809875"/>
            <a:ext cx="3524250" cy="133350"/>
          </a:xfrm>
          <a:prstGeom xmlns:a="http://schemas.openxmlformats.org/drawingml/2006/main" prst="rect">
            <a:avLst/>
          </a:prstGeom>
          <a:solidFill xmlns:a="http://schemas.openxmlformats.org/drawingml/2006/main">
            <a:srgbClr val="DAE6E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E23429A-4E05-4D76-BAFF-A4BD196440A2}"/>
              </a:ext>
            </a:extLst>
          </p:cNvPr>
          <p:cNvSpPr>
            <a:spLocks xmlns:a="http://schemas.openxmlformats.org/drawingml/2006/main" noGrp="1"/>
          </p:cNvSpPr>
          <p:nvPr/>
        </p:nvSpPr>
        <p:spPr>
          <a:xfrm xmlns:a="http://schemas.openxmlformats.org/drawingml/2006/main">
            <a:off x="6610350" y="2809875"/>
            <a:ext cx="2466975" cy="1333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5147C13-77E9-46C2-AF78-9CF6F4B4F421}"/>
              </a:ext>
            </a:extLst>
          </p:cNvPr>
          <p:cNvSpPr>
            <a:spLocks xmlns:a="http://schemas.openxmlformats.org/drawingml/2006/main" noGrp="1"/>
          </p:cNvSpPr>
          <p:nvPr/>
        </p:nvSpPr>
        <p:spPr>
          <a:xfrm xmlns:a="http://schemas.openxmlformats.org/drawingml/2006/main">
            <a:off x="10401300" y="2638425"/>
            <a:ext cx="104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07E77"/>
                </a:solidFill>
                <a:latin typeface="Segoe UI"/>
                <a:ea typeface="Segoe UI"/>
                <a:cs typeface="Segoe UI"/>
              </a:defRPr>
            </a:defPPr>
          </a:lstStyle>
          <a:p xmlns:a="http://schemas.openxmlformats.org/drawingml/2006/main">
            <a:pPr>
              <a:defRPr sz="2625" b="1">
                <a:solidFill>
                  <a:srgbClr val="007E77"/>
                </a:solidFill>
                <a:latin typeface="Segoe UI"/>
                <a:ea typeface="Segoe UI"/>
                <a:cs typeface="Segoe UI"/>
              </a:defRPr>
            </a:pPr>
            <a:r>
              <a:rPr sz="2625" b="1">
                <a:solidFill>
                  <a:srgbClr val="007E77"/>
                </a:solidFill>
                <a:latin typeface="Segoe UI"/>
                <a:ea typeface="Segoe UI"/>
                <a:cs typeface="Segoe UI"/>
              </a:rPr>
              <a:t>70%</a:t>
            </a:r>
          </a:p>
        </p:txBody>
      </p:sp>
      <p:sp>
        <p:nvSpPr>
          <p:cNvPr id="11" name="">
            <a:extLst xmlns:a="http://schemas.openxmlformats.org/drawingml/2006/main">
              <a:ext uri="{FF2B5EF4-FFF2-40B4-BE49-F238E27FC236}">
                <a16:creationId xmlns:a16="http://schemas.microsoft.com/office/drawing/2014/main" id="{5AB26BF2-9135-4694-91DB-90D3BEF78FFF}"/>
              </a:ext>
            </a:extLst>
          </p:cNvPr>
          <p:cNvSpPr>
            <a:spLocks xmlns:a="http://schemas.openxmlformats.org/drawingml/2006/main" noGrp="1"/>
          </p:cNvSpPr>
          <p:nvPr/>
        </p:nvSpPr>
        <p:spPr>
          <a:xfrm xmlns:a="http://schemas.openxmlformats.org/drawingml/2006/main">
            <a:off x="6610350" y="3400425"/>
            <a:ext cx="3905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93846"/>
                </a:solidFill>
                <a:latin typeface="Segoe UI"/>
                <a:ea typeface="Segoe UI"/>
                <a:cs typeface="Segoe UI"/>
              </a:defRPr>
            </a:defPPr>
          </a:lstStyle>
          <a:p xmlns:a="http://schemas.openxmlformats.org/drawingml/2006/main">
            <a:pPr>
              <a:defRPr sz="2100" b="1">
                <a:solidFill>
                  <a:srgbClr val="193846"/>
                </a:solidFill>
                <a:latin typeface="Segoe UI"/>
                <a:ea typeface="Segoe UI"/>
                <a:cs typeface="Segoe UI"/>
              </a:defRPr>
            </a:pPr>
            <a:r>
              <a:rPr sz="2100" b="1">
                <a:solidFill>
                  <a:srgbClr val="193846"/>
                </a:solidFill>
                <a:latin typeface="Segoe UI"/>
                <a:ea typeface="Segoe UI"/>
                <a:cs typeface="Segoe UI"/>
              </a:rPr>
              <a:t>Off-by-one errors</a:t>
            </a:r>
          </a:p>
        </p:txBody>
      </p:sp>
      <p:sp>
        <p:nvSpPr>
          <p:cNvPr id="12" name="">
            <a:extLst xmlns:a="http://schemas.openxmlformats.org/drawingml/2006/main">
              <a:ext uri="{FF2B5EF4-FFF2-40B4-BE49-F238E27FC236}">
                <a16:creationId xmlns:a16="http://schemas.microsoft.com/office/drawing/2014/main" id="{A72774AA-3D61-491E-A249-3BC80AAC93C3}"/>
              </a:ext>
            </a:extLst>
          </p:cNvPr>
          <p:cNvSpPr>
            <a:spLocks xmlns:a="http://schemas.openxmlformats.org/drawingml/2006/main" noGrp="1"/>
          </p:cNvSpPr>
          <p:nvPr/>
        </p:nvSpPr>
        <p:spPr>
          <a:xfrm xmlns:a="http://schemas.openxmlformats.org/drawingml/2006/main">
            <a:off x="6610350" y="3924300"/>
            <a:ext cx="3524250" cy="133350"/>
          </a:xfrm>
          <a:prstGeom xmlns:a="http://schemas.openxmlformats.org/drawingml/2006/main" prst="rect">
            <a:avLst/>
          </a:prstGeom>
          <a:solidFill xmlns:a="http://schemas.openxmlformats.org/drawingml/2006/main">
            <a:srgbClr val="DAE6E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98EF92-A0A1-4821-98A5-2BD3C53F0521}"/>
              </a:ext>
            </a:extLst>
          </p:cNvPr>
          <p:cNvSpPr>
            <a:spLocks xmlns:a="http://schemas.openxmlformats.org/drawingml/2006/main" noGrp="1"/>
          </p:cNvSpPr>
          <p:nvPr/>
        </p:nvSpPr>
        <p:spPr>
          <a:xfrm xmlns:a="http://schemas.openxmlformats.org/drawingml/2006/main">
            <a:off x="6610350" y="3924300"/>
            <a:ext cx="2114550" cy="1333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0478083-CDD5-40AD-904C-BD7E0FDB59ED}"/>
              </a:ext>
            </a:extLst>
          </p:cNvPr>
          <p:cNvSpPr>
            <a:spLocks xmlns:a="http://schemas.openxmlformats.org/drawingml/2006/main" noGrp="1"/>
          </p:cNvSpPr>
          <p:nvPr/>
        </p:nvSpPr>
        <p:spPr>
          <a:xfrm xmlns:a="http://schemas.openxmlformats.org/drawingml/2006/main">
            <a:off x="10401300" y="3752850"/>
            <a:ext cx="104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07E77"/>
                </a:solidFill>
                <a:latin typeface="Segoe UI"/>
                <a:ea typeface="Segoe UI"/>
                <a:cs typeface="Segoe UI"/>
              </a:defRPr>
            </a:defPPr>
          </a:lstStyle>
          <a:p xmlns:a="http://schemas.openxmlformats.org/drawingml/2006/main">
            <a:pPr>
              <a:defRPr sz="2625" b="1">
                <a:solidFill>
                  <a:srgbClr val="007E77"/>
                </a:solidFill>
                <a:latin typeface="Segoe UI"/>
                <a:ea typeface="Segoe UI"/>
                <a:cs typeface="Segoe UI"/>
              </a:defRPr>
            </a:pPr>
            <a:r>
              <a:rPr sz="2625" b="1">
                <a:solidFill>
                  <a:srgbClr val="007E77"/>
                </a:solidFill>
                <a:latin typeface="Segoe UI"/>
                <a:ea typeface="Segoe UI"/>
                <a:cs typeface="Segoe UI"/>
              </a:rPr>
              <a:t>60%</a:t>
            </a:r>
          </a:p>
        </p:txBody>
      </p:sp>
      <p:sp>
        <p:nvSpPr>
          <p:cNvPr id="15" name="">
            <a:extLst xmlns:a="http://schemas.openxmlformats.org/drawingml/2006/main">
              <a:ext uri="{FF2B5EF4-FFF2-40B4-BE49-F238E27FC236}">
                <a16:creationId xmlns:a16="http://schemas.microsoft.com/office/drawing/2014/main" id="{4F144102-96B7-403E-8C78-6F0DFCB37707}"/>
              </a:ext>
            </a:extLst>
          </p:cNvPr>
          <p:cNvSpPr>
            <a:spLocks xmlns:a="http://schemas.openxmlformats.org/drawingml/2006/main" noGrp="1"/>
          </p:cNvSpPr>
          <p:nvPr/>
        </p:nvSpPr>
        <p:spPr>
          <a:xfrm xmlns:a="http://schemas.openxmlformats.org/drawingml/2006/main">
            <a:off x="6610350" y="4514850"/>
            <a:ext cx="3905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93846"/>
                </a:solidFill>
                <a:latin typeface="Segoe UI"/>
                <a:ea typeface="Segoe UI"/>
                <a:cs typeface="Segoe UI"/>
              </a:defRPr>
            </a:defPPr>
          </a:lstStyle>
          <a:p xmlns:a="http://schemas.openxmlformats.org/drawingml/2006/main">
            <a:pPr>
              <a:defRPr sz="2100" b="1">
                <a:solidFill>
                  <a:srgbClr val="193846"/>
                </a:solidFill>
                <a:latin typeface="Segoe UI"/>
                <a:ea typeface="Segoe UI"/>
                <a:cs typeface="Segoe UI"/>
              </a:defRPr>
            </a:pPr>
            <a:r>
              <a:rPr sz="2100" b="1">
                <a:solidFill>
                  <a:srgbClr val="193846"/>
                </a:solidFill>
                <a:latin typeface="Segoe UI"/>
                <a:ea typeface="Segoe UI"/>
                <a:cs typeface="Segoe UI"/>
              </a:rPr>
              <a:t>Nested-loop execution</a:t>
            </a:r>
          </a:p>
        </p:txBody>
      </p:sp>
      <p:sp>
        <p:nvSpPr>
          <p:cNvPr id="16" name="">
            <a:extLst xmlns:a="http://schemas.openxmlformats.org/drawingml/2006/main">
              <a:ext uri="{FF2B5EF4-FFF2-40B4-BE49-F238E27FC236}">
                <a16:creationId xmlns:a16="http://schemas.microsoft.com/office/drawing/2014/main" id="{D9F26841-12B1-40BF-9B0E-AEE914AF982E}"/>
              </a:ext>
            </a:extLst>
          </p:cNvPr>
          <p:cNvSpPr>
            <a:spLocks xmlns:a="http://schemas.openxmlformats.org/drawingml/2006/main" noGrp="1"/>
          </p:cNvSpPr>
          <p:nvPr/>
        </p:nvSpPr>
        <p:spPr>
          <a:xfrm xmlns:a="http://schemas.openxmlformats.org/drawingml/2006/main">
            <a:off x="6610350" y="5038725"/>
            <a:ext cx="3524250" cy="133350"/>
          </a:xfrm>
          <a:prstGeom xmlns:a="http://schemas.openxmlformats.org/drawingml/2006/main" prst="rect">
            <a:avLst/>
          </a:prstGeom>
          <a:solidFill xmlns:a="http://schemas.openxmlformats.org/drawingml/2006/main">
            <a:srgbClr val="DAE6E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D71BBDD-AA8A-4D6F-A79E-E40761323246}"/>
              </a:ext>
            </a:extLst>
          </p:cNvPr>
          <p:cNvSpPr>
            <a:spLocks xmlns:a="http://schemas.openxmlformats.org/drawingml/2006/main" noGrp="1"/>
          </p:cNvSpPr>
          <p:nvPr/>
        </p:nvSpPr>
        <p:spPr>
          <a:xfrm xmlns:a="http://schemas.openxmlformats.org/drawingml/2006/main">
            <a:off x="6610350" y="5038725"/>
            <a:ext cx="704850" cy="133350"/>
          </a:xfrm>
          <a:prstGeom xmlns:a="http://schemas.openxmlformats.org/drawingml/2006/main" prst="rect">
            <a:avLst/>
          </a:prstGeom>
          <a:solidFill xmlns:a="http://schemas.openxmlformats.org/drawingml/2006/main">
            <a:srgbClr val="B7753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71A6666-A99C-4ADB-8940-1BEFB9D29755}"/>
              </a:ext>
            </a:extLst>
          </p:cNvPr>
          <p:cNvSpPr>
            <a:spLocks xmlns:a="http://schemas.openxmlformats.org/drawingml/2006/main" noGrp="1"/>
          </p:cNvSpPr>
          <p:nvPr/>
        </p:nvSpPr>
        <p:spPr>
          <a:xfrm xmlns:a="http://schemas.openxmlformats.org/drawingml/2006/main">
            <a:off x="10401300" y="4867275"/>
            <a:ext cx="104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B77535"/>
                </a:solidFill>
                <a:latin typeface="Segoe UI"/>
                <a:ea typeface="Segoe UI"/>
                <a:cs typeface="Segoe UI"/>
              </a:defRPr>
            </a:defPPr>
          </a:lstStyle>
          <a:p xmlns:a="http://schemas.openxmlformats.org/drawingml/2006/main">
            <a:pPr>
              <a:defRPr sz="2625" b="1">
                <a:solidFill>
                  <a:srgbClr val="B77535"/>
                </a:solidFill>
                <a:latin typeface="Segoe UI"/>
                <a:ea typeface="Segoe UI"/>
                <a:cs typeface="Segoe UI"/>
              </a:defRPr>
            </a:pPr>
            <a:r>
              <a:rPr sz="2625" b="1">
                <a:solidFill>
                  <a:srgbClr val="B77535"/>
                </a:solidFill>
                <a:latin typeface="Segoe UI"/>
                <a:ea typeface="Segoe UI"/>
                <a:cs typeface="Segoe UI"/>
              </a:rPr>
              <a:t>20%</a:t>
            </a:r>
          </a:p>
        </p:txBody>
      </p:sp>
    </p:spTree>
    <p:extLst>
      <p:ext uri="{BB962C8B-B14F-4D97-AF65-F5344CB8AC3E}">
        <p14:creationId xmlns:p14="http://schemas.microsoft.com/office/powerpoint/2010/main" val="806835264"/>
      </p:ext>
    </p:extLst>
  </p:cSld>
</p:sld>
</file>

<file path=ppt/slides/slide4.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8907082-F0ED-4470-A13E-72F1EBC7B19E}"/>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49EE1A-3485-48FC-91DC-A07352C76485}"/>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A lesson for the identified gap</a:t>
            </a:r>
          </a:p>
        </p:txBody>
      </p:sp>
      <p:sp>
        <p:nvSpPr>
          <p:cNvPr id="3" name="">
            <a:extLst xmlns:a="http://schemas.openxmlformats.org/drawingml/2006/main">
              <a:ext uri="{FF2B5EF4-FFF2-40B4-BE49-F238E27FC236}">
                <a16:creationId xmlns:a16="http://schemas.microsoft.com/office/drawing/2014/main" id="{9B41D4BA-D6C3-4517-ABAB-3200BADB1A87}"/>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7AF3A743-0C28-4660-A28E-FE5608634EE5}"/>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04</a:t>
            </a:r>
          </a:p>
        </p:txBody>
      </p:sp>
      <p:sp>
        <p:nvSpPr>
          <p:cNvPr id="5" name="">
            <a:extLst xmlns:a="http://schemas.openxmlformats.org/drawingml/2006/main">
              <a:ext uri="{FF2B5EF4-FFF2-40B4-BE49-F238E27FC236}">
                <a16:creationId xmlns:a16="http://schemas.microsoft.com/office/drawing/2014/main" id="{13F2169B-022F-4498-898E-4745A110C1F9}"/>
              </a:ext>
            </a:extLst>
          </p:cNvPr>
          <p:cNvSpPr>
            <a:spLocks xmlns:a="http://schemas.openxmlformats.org/drawingml/2006/main" noGrp="1"/>
          </p:cNvSpPr>
          <p:nvPr/>
        </p:nvSpPr>
        <p:spPr>
          <a:xfrm xmlns:a="http://schemas.openxmlformats.org/drawingml/2006/main">
            <a:off x="590550" y="2390775"/>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816E36C-AE1A-45CE-BC5A-337F69F5725E}"/>
              </a:ext>
            </a:extLst>
          </p:cNvPr>
          <p:cNvSpPr>
            <a:spLocks xmlns:a="http://schemas.openxmlformats.org/drawingml/2006/main" noGrp="1"/>
          </p:cNvSpPr>
          <p:nvPr/>
        </p:nvSpPr>
        <p:spPr>
          <a:xfrm xmlns:a="http://schemas.openxmlformats.org/drawingml/2006/main">
            <a:off x="590550" y="26384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A small learning step</a:t>
            </a:r>
          </a:p>
        </p:txBody>
      </p:sp>
      <p:sp>
        <p:nvSpPr>
          <p:cNvPr id="7" name="">
            <a:extLst xmlns:a="http://schemas.openxmlformats.org/drawingml/2006/main">
              <a:ext uri="{FF2B5EF4-FFF2-40B4-BE49-F238E27FC236}">
                <a16:creationId xmlns:a16="http://schemas.microsoft.com/office/drawing/2014/main" id="{F13D9D6F-6FCB-475B-BB80-235AA2D86638}"/>
              </a:ext>
            </a:extLst>
          </p:cNvPr>
          <p:cNvSpPr>
            <a:spLocks xmlns:a="http://schemas.openxmlformats.org/drawingml/2006/main" noGrp="1"/>
          </p:cNvSpPr>
          <p:nvPr/>
        </p:nvSpPr>
        <p:spPr>
          <a:xfrm xmlns:a="http://schemas.openxmlformats.org/drawingml/2006/main">
            <a:off x="590550" y="3409950"/>
            <a:ext cx="3333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Break one concept into clear steps and a worked example.</a:t>
            </a:r>
          </a:p>
        </p:txBody>
      </p:sp>
      <p:sp>
        <p:nvSpPr>
          <p:cNvPr id="8" name="">
            <a:extLst xmlns:a="http://schemas.openxmlformats.org/drawingml/2006/main">
              <a:ext uri="{FF2B5EF4-FFF2-40B4-BE49-F238E27FC236}">
                <a16:creationId xmlns:a16="http://schemas.microsoft.com/office/drawing/2014/main" id="{6426F847-94A4-4A8D-BE5F-002DA6B33420}"/>
              </a:ext>
            </a:extLst>
          </p:cNvPr>
          <p:cNvSpPr>
            <a:spLocks xmlns:a="http://schemas.openxmlformats.org/drawingml/2006/main" noGrp="1"/>
          </p:cNvSpPr>
          <p:nvPr/>
        </p:nvSpPr>
        <p:spPr>
          <a:xfrm xmlns:a="http://schemas.openxmlformats.org/drawingml/2006/main">
            <a:off x="4438650" y="2390775"/>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B0C8145-A529-41E0-8537-D661987D76EA}"/>
              </a:ext>
            </a:extLst>
          </p:cNvPr>
          <p:cNvSpPr>
            <a:spLocks xmlns:a="http://schemas.openxmlformats.org/drawingml/2006/main" noGrp="1"/>
          </p:cNvSpPr>
          <p:nvPr/>
        </p:nvSpPr>
        <p:spPr>
          <a:xfrm xmlns:a="http://schemas.openxmlformats.org/drawingml/2006/main">
            <a:off x="4438650" y="26384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A visible reference</a:t>
            </a:r>
          </a:p>
        </p:txBody>
      </p:sp>
      <p:sp>
        <p:nvSpPr>
          <p:cNvPr id="10" name="">
            <a:extLst xmlns:a="http://schemas.openxmlformats.org/drawingml/2006/main">
              <a:ext uri="{FF2B5EF4-FFF2-40B4-BE49-F238E27FC236}">
                <a16:creationId xmlns:a16="http://schemas.microsoft.com/office/drawing/2014/main" id="{F3B726AB-01A0-4032-AE84-6A41F36FC8D0}"/>
              </a:ext>
            </a:extLst>
          </p:cNvPr>
          <p:cNvSpPr>
            <a:spLocks xmlns:a="http://schemas.openxmlformats.org/drawingml/2006/main" noGrp="1"/>
          </p:cNvSpPr>
          <p:nvPr/>
        </p:nvSpPr>
        <p:spPr>
          <a:xfrm xmlns:a="http://schemas.openxmlformats.org/drawingml/2006/main">
            <a:off x="4438650" y="3409950"/>
            <a:ext cx="3333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Keep the official teaching reference beside the explanation.</a:t>
            </a:r>
          </a:p>
        </p:txBody>
      </p:sp>
      <p:sp>
        <p:nvSpPr>
          <p:cNvPr id="11" name="">
            <a:extLst xmlns:a="http://schemas.openxmlformats.org/drawingml/2006/main">
              <a:ext uri="{FF2B5EF4-FFF2-40B4-BE49-F238E27FC236}">
                <a16:creationId xmlns:a16="http://schemas.microsoft.com/office/drawing/2014/main" id="{4D102708-7A66-48FE-AB7C-77158F1E63B4}"/>
              </a:ext>
            </a:extLst>
          </p:cNvPr>
          <p:cNvSpPr>
            <a:spLocks xmlns:a="http://schemas.openxmlformats.org/drawingml/2006/main" noGrp="1"/>
          </p:cNvSpPr>
          <p:nvPr/>
        </p:nvSpPr>
        <p:spPr>
          <a:xfrm xmlns:a="http://schemas.openxmlformats.org/drawingml/2006/main">
            <a:off x="8286750" y="2390775"/>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B1A8C7A-4B9F-4BD3-8221-8131DAABD415}"/>
              </a:ext>
            </a:extLst>
          </p:cNvPr>
          <p:cNvSpPr>
            <a:spLocks xmlns:a="http://schemas.openxmlformats.org/drawingml/2006/main" noGrp="1"/>
          </p:cNvSpPr>
          <p:nvPr/>
        </p:nvSpPr>
        <p:spPr>
          <a:xfrm xmlns:a="http://schemas.openxmlformats.org/drawingml/2006/main">
            <a:off x="8286750" y="2638425"/>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Practice with feedback</a:t>
            </a:r>
          </a:p>
        </p:txBody>
      </p:sp>
      <p:sp>
        <p:nvSpPr>
          <p:cNvPr id="13" name="">
            <a:extLst xmlns:a="http://schemas.openxmlformats.org/drawingml/2006/main">
              <a:ext uri="{FF2B5EF4-FFF2-40B4-BE49-F238E27FC236}">
                <a16:creationId xmlns:a16="http://schemas.microsoft.com/office/drawing/2014/main" id="{46D04180-B539-45C8-93B5-6EAC3526ABCF}"/>
              </a:ext>
            </a:extLst>
          </p:cNvPr>
          <p:cNvSpPr>
            <a:spLocks xmlns:a="http://schemas.openxmlformats.org/drawingml/2006/main" noGrp="1"/>
          </p:cNvSpPr>
          <p:nvPr/>
        </p:nvSpPr>
        <p:spPr>
          <a:xfrm xmlns:a="http://schemas.openxmlformats.org/drawingml/2006/main">
            <a:off x="8286750" y="3409950"/>
            <a:ext cx="323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Try the idea before taking a separate assessment.</a:t>
            </a:r>
          </a:p>
        </p:txBody>
      </p:sp>
      <p:sp>
        <p:nvSpPr>
          <p:cNvPr id="14" name="">
            <a:extLst xmlns:a="http://schemas.openxmlformats.org/drawingml/2006/main">
              <a:ext uri="{FF2B5EF4-FFF2-40B4-BE49-F238E27FC236}">
                <a16:creationId xmlns:a16="http://schemas.microsoft.com/office/drawing/2014/main" id="{46C4E172-5627-4C4F-AB4D-865C795122C8}"/>
              </a:ext>
            </a:extLst>
          </p:cNvPr>
          <p:cNvSpPr>
            <a:spLocks xmlns:a="http://schemas.openxmlformats.org/drawingml/2006/main" noGrp="1"/>
          </p:cNvSpPr>
          <p:nvPr/>
        </p:nvSpPr>
        <p:spPr>
          <a:xfrm xmlns:a="http://schemas.openxmlformats.org/drawingml/2006/main">
            <a:off x="590550" y="54768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07E77"/>
                </a:solidFill>
                <a:latin typeface="Segoe UI"/>
                <a:ea typeface="Segoe UI"/>
                <a:cs typeface="Segoe UI"/>
              </a:defRPr>
            </a:defPPr>
          </a:lstStyle>
          <a:p xmlns:a="http://schemas.openxmlformats.org/drawingml/2006/main">
            <a:pPr>
              <a:defRPr sz="2250" b="1">
                <a:solidFill>
                  <a:srgbClr val="007E77"/>
                </a:solidFill>
                <a:latin typeface="Segoe UI"/>
                <a:ea typeface="Segoe UI"/>
                <a:cs typeface="Segoe UI"/>
              </a:defRPr>
            </a:pPr>
            <a:r>
              <a:rPr sz="2250" b="1">
                <a:solidFill>
                  <a:srgbClr val="007E77"/>
                </a:solidFill>
                <a:latin typeface="Segoe UI"/>
                <a:ea typeface="Segoe UI"/>
                <a:cs typeface="Segoe UI"/>
              </a:rPr>
              <a:t>Asha’s focus: finish the inner loop before moving on</a:t>
            </a:r>
          </a:p>
        </p:txBody>
      </p:sp>
    </p:spTree>
    <p:extLst>
      <p:ext uri="{BB962C8B-B14F-4D97-AF65-F5344CB8AC3E}">
        <p14:creationId xmlns:p14="http://schemas.microsoft.com/office/powerpoint/2010/main" val="631932631"/>
      </p:ext>
    </p:extLst>
  </p:cSld>
</p:sld>
</file>

<file path=ppt/slides/slide5.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2F89D1E-1A16-4E0D-BB85-E78AE8E648BD}"/>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2808AC-A290-4481-8254-DDD7B7994649}"/>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FFFFF"/>
                </a:solidFill>
                <a:latin typeface="Segoe UI"/>
                <a:ea typeface="Segoe UI"/>
                <a:cs typeface="Segoe UI"/>
              </a:defRPr>
            </a:defPPr>
          </a:lstStyle>
          <a:p xmlns:a="http://schemas.openxmlformats.org/drawingml/2006/main">
            <a:pPr>
              <a:defRPr sz="3825" b="1">
                <a:solidFill>
                  <a:srgbClr val="FFFFFF"/>
                </a:solidFill>
                <a:latin typeface="Segoe UI"/>
                <a:ea typeface="Segoe UI"/>
                <a:cs typeface="Segoe UI"/>
              </a:defRPr>
            </a:pPr>
            <a:r>
              <a:rPr sz="3825" b="1">
                <a:solidFill>
                  <a:srgbClr val="FFFFFF"/>
                </a:solidFill>
                <a:latin typeface="Segoe UI"/>
                <a:ea typeface="Segoe UI"/>
                <a:cs typeface="Segoe UI"/>
              </a:rPr>
              <a:t>Let’s trace this together</a:t>
            </a:r>
          </a:p>
        </p:txBody>
      </p:sp>
      <p:sp>
        <p:nvSpPr>
          <p:cNvPr id="3" name="">
            <a:extLst xmlns:a="http://schemas.openxmlformats.org/drawingml/2006/main">
              <a:ext uri="{FF2B5EF4-FFF2-40B4-BE49-F238E27FC236}">
                <a16:creationId xmlns:a16="http://schemas.microsoft.com/office/drawing/2014/main" id="{1DD5BC9E-B526-4FFD-BF33-8BA6C2B50B69}"/>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9EC2CB"/>
                </a:solidFill>
                <a:latin typeface="Segoe UI"/>
                <a:ea typeface="Segoe UI"/>
                <a:cs typeface="Segoe UI"/>
              </a:defRPr>
            </a:defPPr>
          </a:lstStyle>
          <a:p xmlns:a="http://schemas.openxmlformats.org/drawingml/2006/main">
            <a:pPr>
              <a:defRPr sz="1350" b="1">
                <a:solidFill>
                  <a:srgbClr val="9EC2CB"/>
                </a:solidFill>
                <a:latin typeface="Segoe UI"/>
                <a:ea typeface="Segoe UI"/>
                <a:cs typeface="Segoe UI"/>
              </a:defRPr>
            </a:pPr>
            <a:r>
              <a:rPr sz="1350" b="1">
                <a:solidFill>
                  <a:srgbClr val="9EC2CB"/>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5D298045-B4BF-4780-B3EF-B9DF42FFF5C7}"/>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9EC2CB"/>
                </a:solidFill>
                <a:latin typeface="Segoe UI"/>
                <a:ea typeface="Segoe UI"/>
                <a:cs typeface="Segoe UI"/>
              </a:defRPr>
            </a:defPPr>
          </a:lstStyle>
          <a:p xmlns:a="http://schemas.openxmlformats.org/drawingml/2006/main">
            <a:pPr>
              <a:defRPr sz="1350" b="0">
                <a:solidFill>
                  <a:srgbClr val="9EC2CB"/>
                </a:solidFill>
                <a:latin typeface="Segoe UI"/>
                <a:ea typeface="Segoe UI"/>
                <a:cs typeface="Segoe UI"/>
              </a:defRPr>
            </a:pPr>
            <a:r>
              <a:rPr sz="1350" b="0">
                <a:solidFill>
                  <a:srgbClr val="9EC2CB"/>
                </a:solidFill>
                <a:latin typeface="Segoe UI"/>
                <a:ea typeface="Segoe UI"/>
                <a:cs typeface="Segoe UI"/>
              </a:rPr>
              <a:t>05</a:t>
            </a:r>
          </a:p>
        </p:txBody>
      </p:sp>
      <p:sp>
        <p:nvSpPr>
          <p:cNvPr id="5" name="">
            <a:extLst xmlns:a="http://schemas.openxmlformats.org/drawingml/2006/main">
              <a:ext uri="{FF2B5EF4-FFF2-40B4-BE49-F238E27FC236}">
                <a16:creationId xmlns:a16="http://schemas.microsoft.com/office/drawing/2014/main" id="{09F5B359-7C47-4EE7-AC9C-EE35E8A360A2}"/>
              </a:ext>
            </a:extLst>
          </p:cNvPr>
          <p:cNvSpPr>
            <a:spLocks xmlns:a="http://schemas.openxmlformats.org/drawingml/2006/main" noGrp="1"/>
          </p:cNvSpPr>
          <p:nvPr/>
        </p:nvSpPr>
        <p:spPr>
          <a:xfrm xmlns:a="http://schemas.openxmlformats.org/drawingml/2006/main">
            <a:off x="590550" y="2305050"/>
            <a:ext cx="5810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FFFFFF"/>
                </a:solidFill>
                <a:latin typeface="Segoe UI"/>
                <a:ea typeface="Segoe UI"/>
                <a:cs typeface="Segoe UI"/>
              </a:defRPr>
            </a:defPPr>
          </a:lstStyle>
          <a:p xmlns:a="http://schemas.openxmlformats.org/drawingml/2006/main">
            <a:pPr>
              <a:defRPr sz="3225" b="1">
                <a:solidFill>
                  <a:srgbClr val="FFFFFF"/>
                </a:solidFill>
                <a:latin typeface="Segoe UI"/>
                <a:ea typeface="Segoe UI"/>
                <a:cs typeface="Segoe UI"/>
              </a:defRPr>
            </a:pPr>
            <a:r>
              <a:rPr sz="3225" b="1">
                <a:solidFill>
                  <a:srgbClr val="FFFFFF"/>
                </a:solidFill>
                <a:latin typeface="Segoe UI"/>
                <a:ea typeface="Segoe UI"/>
                <a:cs typeface="Segoe UI"/>
              </a:rPr>
              <a:t>How many times does</a:t>
            </a:r>
          </a:p>
          <a:p xmlns:a="http://schemas.openxmlformats.org/drawingml/2006/main">
            <a:pPr>
              <a:defRPr sz="3225" b="1">
                <a:solidFill>
                  <a:srgbClr val="FFFFFF"/>
                </a:solidFill>
                <a:latin typeface="Segoe UI"/>
                <a:ea typeface="Segoe UI"/>
                <a:cs typeface="Segoe UI"/>
              </a:defRPr>
            </a:pPr>
            <a:r>
              <a:rPr sz="3225" b="1">
                <a:solidFill>
                  <a:srgbClr val="FFFFFF"/>
                </a:solidFill>
                <a:latin typeface="Segoe UI"/>
                <a:ea typeface="Segoe UI"/>
                <a:cs typeface="Segoe UI"/>
              </a:rPr>
              <a:t>the inner statement run?</a:t>
            </a:r>
          </a:p>
        </p:txBody>
      </p:sp>
      <p:sp>
        <p:nvSpPr>
          <p:cNvPr id="6" name="">
            <a:extLst xmlns:a="http://schemas.openxmlformats.org/drawingml/2006/main">
              <a:ext uri="{FF2B5EF4-FFF2-40B4-BE49-F238E27FC236}">
                <a16:creationId xmlns:a16="http://schemas.microsoft.com/office/drawing/2014/main" id="{4D2F2DF3-340F-4035-B3D7-88A8EBE8EFD5}"/>
              </a:ext>
            </a:extLst>
          </p:cNvPr>
          <p:cNvSpPr>
            <a:spLocks xmlns:a="http://schemas.openxmlformats.org/drawingml/2006/main" noGrp="1"/>
          </p:cNvSpPr>
          <p:nvPr/>
        </p:nvSpPr>
        <p:spPr>
          <a:xfrm xmlns:a="http://schemas.openxmlformats.org/drawingml/2006/main">
            <a:off x="590550" y="4333875"/>
            <a:ext cx="5429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BED5DB"/>
                </a:solidFill>
                <a:latin typeface="Segoe UI"/>
                <a:ea typeface="Segoe UI"/>
                <a:cs typeface="Segoe UI"/>
              </a:defRPr>
            </a:defPPr>
          </a:lstStyle>
          <a:p xmlns:a="http://schemas.openxmlformats.org/drawingml/2006/main">
            <a:pPr>
              <a:defRPr sz="2175" b="0">
                <a:solidFill>
                  <a:srgbClr val="BED5DB"/>
                </a:solidFill>
                <a:latin typeface="Segoe UI"/>
                <a:ea typeface="Segoe UI"/>
                <a:cs typeface="Segoe UI"/>
              </a:defRPr>
            </a:pPr>
            <a:r>
              <a:rPr sz="2175" b="0">
                <a:solidFill>
                  <a:srgbClr val="BED5DB"/>
                </a:solidFill>
                <a:latin typeface="Segoe UI"/>
                <a:ea typeface="Segoe UI"/>
                <a:cs typeface="Segoe UI"/>
              </a:rPr>
              <a:t>Choose one answer.</a:t>
            </a:r>
          </a:p>
          <a:p xmlns:a="http://schemas.openxmlformats.org/drawingml/2006/main">
            <a:pPr>
              <a:defRPr sz="2175" b="0">
                <a:solidFill>
                  <a:srgbClr val="BED5DB"/>
                </a:solidFill>
                <a:latin typeface="Segoe UI"/>
                <a:ea typeface="Segoe UI"/>
                <a:cs typeface="Segoe UI"/>
              </a:defRPr>
            </a:pPr>
            <a:r>
              <a:rPr sz="2175" b="0">
                <a:solidFill>
                  <a:srgbClr val="BED5DB"/>
                </a:solidFill>
                <a:latin typeface="Segoe UI"/>
                <a:ea typeface="Segoe UI"/>
                <a:cs typeface="Segoe UI"/>
              </a:rPr>
              <a:t>Then inspect the saved result.</a:t>
            </a:r>
          </a:p>
        </p:txBody>
      </p:sp>
      <p:sp>
        <p:nvSpPr>
          <p:cNvPr id="7" name="">
            <a:extLst xmlns:a="http://schemas.openxmlformats.org/drawingml/2006/main">
              <a:ext uri="{FF2B5EF4-FFF2-40B4-BE49-F238E27FC236}">
                <a16:creationId xmlns:a16="http://schemas.microsoft.com/office/drawing/2014/main" id="{4360BBD9-DCE4-4D8E-AAD1-301BDE615AB6}"/>
              </a:ext>
            </a:extLst>
          </p:cNvPr>
          <p:cNvSpPr>
            <a:spLocks xmlns:a="http://schemas.openxmlformats.org/drawingml/2006/main" noGrp="1"/>
          </p:cNvSpPr>
          <p:nvPr/>
        </p:nvSpPr>
        <p:spPr>
          <a:xfrm xmlns:a="http://schemas.openxmlformats.org/drawingml/2006/main">
            <a:off x="6905625" y="2209800"/>
            <a:ext cx="4533900" cy="3086100"/>
          </a:xfrm>
          <a:prstGeom xmlns:a="http://schemas.openxmlformats.org/drawingml/2006/main" prst="roundRect">
            <a:avLst>
              <a:gd name="adj" fmla="val 2469"/>
            </a:avLst>
          </a:prstGeom>
          <a:solidFill xmlns:a="http://schemas.openxmlformats.org/drawingml/2006/main">
            <a:srgbClr val="1C4350"/>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B9B0586-CE3D-43E4-866C-6951D7036955}"/>
              </a:ext>
            </a:extLst>
          </p:cNvPr>
          <p:cNvSpPr>
            <a:spLocks xmlns:a="http://schemas.openxmlformats.org/drawingml/2006/main" noGrp="1"/>
          </p:cNvSpPr>
          <p:nvPr/>
        </p:nvSpPr>
        <p:spPr>
          <a:xfrm xmlns:a="http://schemas.openxmlformats.org/drawingml/2006/main">
            <a:off x="7181850" y="2409825"/>
            <a:ext cx="406717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FFFFF"/>
                </a:solidFill>
                <a:latin typeface="Segoe UI"/>
                <a:ea typeface="Segoe UI"/>
                <a:cs typeface="Segoe UI"/>
              </a:defRPr>
            </a:defPPr>
          </a:lstStyle>
          <a:p xmlns:a="http://schemas.openxmlformats.org/drawingml/2006/main">
            <a:pPr>
              <a:defRPr sz="2100" b="0">
                <a:solidFill>
                  <a:srgbClr val="FFFFFF"/>
                </a:solidFill>
                <a:latin typeface="Segoe UI"/>
                <a:ea typeface="Segoe UI"/>
                <a:cs typeface="Segoe UI"/>
              </a:defRPr>
            </a:pPr>
            <a:r>
              <a:rPr sz="2100" b="0">
                <a:solidFill>
                  <a:srgbClr val="FFFFFF"/>
                </a:solidFill>
                <a:latin typeface="Segoe UI"/>
                <a:ea typeface="Segoe UI"/>
                <a:cs typeface="Segoe UI"/>
              </a:rPr>
              <a:t>count = 0</a:t>
            </a:r>
          </a:p>
          <a:p xmlns:a="http://schemas.openxmlformats.org/drawingml/2006/main">
            <a:pPr>
              <a:defRPr sz="2100" b="0">
                <a:solidFill>
                  <a:srgbClr val="FFFFFF"/>
                </a:solidFill>
                <a:latin typeface="Segoe UI"/>
                <a:ea typeface="Segoe UI"/>
                <a:cs typeface="Segoe UI"/>
              </a:defRPr>
            </a:pPr>
            <a:r>
              <a:rPr sz="2100" b="0">
                <a:solidFill>
                  <a:srgbClr val="FFFFFF"/>
                </a:solidFill>
                <a:latin typeface="Segoe UI"/>
                <a:ea typeface="Segoe UI"/>
                <a:cs typeface="Segoe UI"/>
              </a:rPr>
              <a:t>for group in range(3):</a:t>
            </a:r>
          </a:p>
          <a:p xmlns:a="http://schemas.openxmlformats.org/drawingml/2006/main">
            <a:pPr>
              <a:defRPr sz="2100" b="0">
                <a:solidFill>
                  <a:srgbClr val="FFFFFF"/>
                </a:solidFill>
                <a:latin typeface="Segoe UI"/>
                <a:ea typeface="Segoe UI"/>
                <a:cs typeface="Segoe UI"/>
              </a:defRPr>
            </a:pPr>
            <a:r>
              <a:rPr sz="2100" b="0">
                <a:solidFill>
                  <a:srgbClr val="FFFFFF"/>
                </a:solidFill>
                <a:latin typeface="Segoe UI"/>
                <a:ea typeface="Segoe UI"/>
                <a:cs typeface="Segoe UI"/>
              </a:rPr>
              <a:t>    for item in range(4):</a:t>
            </a:r>
          </a:p>
          <a:p xmlns:a="http://schemas.openxmlformats.org/drawingml/2006/main">
            <a:pPr>
              <a:defRPr sz="2100" b="0">
                <a:solidFill>
                  <a:srgbClr val="FFFFFF"/>
                </a:solidFill>
                <a:latin typeface="Segoe UI"/>
                <a:ea typeface="Segoe UI"/>
                <a:cs typeface="Segoe UI"/>
              </a:defRPr>
            </a:pPr>
            <a:r>
              <a:rPr sz="2100" b="0">
                <a:solidFill>
                  <a:srgbClr val="FFFFFF"/>
                </a:solidFill>
                <a:latin typeface="Segoe UI"/>
                <a:ea typeface="Segoe UI"/>
                <a:cs typeface="Segoe UI"/>
              </a:rPr>
              <a:t>        count += 1</a:t>
            </a:r>
          </a:p>
          <a:p xmlns:a="http://schemas.openxmlformats.org/drawingml/2006/main">
            <a:pPr>
              <a:defRPr sz="2100" b="0">
                <a:solidFill>
                  <a:srgbClr val="FFFFFF"/>
                </a:solidFill>
                <a:latin typeface="Segoe UI"/>
                <a:ea typeface="Segoe UI"/>
                <a:cs typeface="Segoe UI"/>
              </a:defRPr>
            </a:pPr>
            <a:r>
              <a:rPr sz="2100" b="0">
                <a:solidFill>
                  <a:srgbClr val="FFFFFF"/>
                </a:solidFill>
                <a:latin typeface="Segoe UI"/>
                <a:ea typeface="Segoe UI"/>
                <a:cs typeface="Segoe UI"/>
              </a:rPr>
              <a:t>print(count)</a:t>
            </a:r>
          </a:p>
        </p:txBody>
      </p:sp>
      <p:sp>
        <p:nvSpPr>
          <p:cNvPr id="9" name="">
            <a:extLst xmlns:a="http://schemas.openxmlformats.org/drawingml/2006/main">
              <a:ext uri="{FF2B5EF4-FFF2-40B4-BE49-F238E27FC236}">
                <a16:creationId xmlns:a16="http://schemas.microsoft.com/office/drawing/2014/main" id="{D00C0AB3-A878-4757-9D10-8332DE6AB352}"/>
              </a:ext>
            </a:extLst>
          </p:cNvPr>
          <p:cNvSpPr>
            <a:spLocks xmlns:a="http://schemas.openxmlformats.org/drawingml/2006/main" noGrp="1"/>
          </p:cNvSpPr>
          <p:nvPr/>
        </p:nvSpPr>
        <p:spPr>
          <a:xfrm xmlns:a="http://schemas.openxmlformats.org/drawingml/2006/main">
            <a:off x="7181850" y="4676775"/>
            <a:ext cx="40671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76D4BF"/>
                </a:solidFill>
                <a:latin typeface="Segoe UI"/>
                <a:ea typeface="Segoe UI"/>
                <a:cs typeface="Segoe UI"/>
              </a:defRPr>
            </a:defPPr>
          </a:lstStyle>
          <a:p xmlns:a="http://schemas.openxmlformats.org/drawingml/2006/main">
            <a:pPr>
              <a:defRPr sz="2325" b="1">
                <a:solidFill>
                  <a:srgbClr val="76D4BF"/>
                </a:solidFill>
                <a:latin typeface="Segoe UI"/>
                <a:ea typeface="Segoe UI"/>
                <a:cs typeface="Segoe UI"/>
              </a:defRPr>
            </a:pPr>
            <a:r>
              <a:rPr sz="2325" b="1">
                <a:solidFill>
                  <a:srgbClr val="76D4BF"/>
                </a:solidFill>
                <a:latin typeface="Segoe UI"/>
                <a:ea typeface="Segoe UI"/>
                <a:cs typeface="Segoe UI"/>
              </a:rPr>
              <a:t>7     4     12     16</a:t>
            </a:r>
          </a:p>
        </p:txBody>
      </p:sp>
    </p:spTree>
    <p:extLst>
      <p:ext uri="{BB962C8B-B14F-4D97-AF65-F5344CB8AC3E}">
        <p14:creationId xmlns:p14="http://schemas.microsoft.com/office/powerpoint/2010/main" val="662027877"/>
      </p:ext>
    </p:extLst>
  </p:cSld>
</p:sld>
</file>

<file path=ppt/slides/slide6.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F5DEF59-42BF-4FFB-ACE1-8941255E9882}"/>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F4BC6F-FB46-4048-BBC8-C9B9234521C5}"/>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Saved answers become usable evidence</a:t>
            </a:r>
          </a:p>
        </p:txBody>
      </p:sp>
      <p:sp>
        <p:nvSpPr>
          <p:cNvPr id="3" name="">
            <a:extLst xmlns:a="http://schemas.openxmlformats.org/drawingml/2006/main">
              <a:ext uri="{FF2B5EF4-FFF2-40B4-BE49-F238E27FC236}">
                <a16:creationId xmlns:a16="http://schemas.microsoft.com/office/drawing/2014/main" id="{5E85FACB-34AC-4C48-B41D-3DDF63B4674A}"/>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D03DD742-0D2E-4132-8C7E-FC37B80CB9D7}"/>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06</a:t>
            </a:r>
          </a:p>
        </p:txBody>
      </p:sp>
      <p:sp>
        <p:nvSpPr>
          <p:cNvPr id="5" name="">
            <a:extLst xmlns:a="http://schemas.openxmlformats.org/drawingml/2006/main">
              <a:ext uri="{FF2B5EF4-FFF2-40B4-BE49-F238E27FC236}">
                <a16:creationId xmlns:a16="http://schemas.microsoft.com/office/drawing/2014/main" id="{E8E3CEE0-942C-4859-9EEC-675E37FED005}"/>
              </a:ext>
            </a:extLst>
          </p:cNvPr>
          <p:cNvSpPr>
            <a:spLocks xmlns:a="http://schemas.openxmlformats.org/drawingml/2006/main" noGrp="1"/>
          </p:cNvSpPr>
          <p:nvPr/>
        </p:nvSpPr>
        <p:spPr>
          <a:xfrm xmlns:a="http://schemas.openxmlformats.org/drawingml/2006/main">
            <a:off x="590550" y="2381250"/>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3AB6180-D004-418D-ACB0-4606A1561B54}"/>
              </a:ext>
            </a:extLst>
          </p:cNvPr>
          <p:cNvSpPr>
            <a:spLocks xmlns:a="http://schemas.openxmlformats.org/drawingml/2006/main" noGrp="1"/>
          </p:cNvSpPr>
          <p:nvPr/>
        </p:nvSpPr>
        <p:spPr>
          <a:xfrm xmlns:a="http://schemas.openxmlformats.org/drawingml/2006/main">
            <a:off x="590550" y="262890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Submit once</a:t>
            </a:r>
          </a:p>
        </p:txBody>
      </p:sp>
      <p:sp>
        <p:nvSpPr>
          <p:cNvPr id="7" name="">
            <a:extLst xmlns:a="http://schemas.openxmlformats.org/drawingml/2006/main">
              <a:ext uri="{FF2B5EF4-FFF2-40B4-BE49-F238E27FC236}">
                <a16:creationId xmlns:a16="http://schemas.microsoft.com/office/drawing/2014/main" id="{119C3D5D-B4B6-4EDB-A3A3-10F9EBEB7F6D}"/>
              </a:ext>
            </a:extLst>
          </p:cNvPr>
          <p:cNvSpPr>
            <a:spLocks xmlns:a="http://schemas.openxmlformats.org/drawingml/2006/main" noGrp="1"/>
          </p:cNvSpPr>
          <p:nvPr/>
        </p:nvSpPr>
        <p:spPr>
          <a:xfrm xmlns:a="http://schemas.openxmlformats.org/drawingml/2006/main">
            <a:off x="590550" y="3400425"/>
            <a:ext cx="3333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The server checks the answer key and saves the response.</a:t>
            </a:r>
          </a:p>
        </p:txBody>
      </p:sp>
      <p:sp>
        <p:nvSpPr>
          <p:cNvPr id="8" name="">
            <a:extLst xmlns:a="http://schemas.openxmlformats.org/drawingml/2006/main">
              <a:ext uri="{FF2B5EF4-FFF2-40B4-BE49-F238E27FC236}">
                <a16:creationId xmlns:a16="http://schemas.microsoft.com/office/drawing/2014/main" id="{49FF8F9D-FB90-42E8-AFBD-B645043F3D8A}"/>
              </a:ext>
            </a:extLst>
          </p:cNvPr>
          <p:cNvSpPr>
            <a:spLocks xmlns:a="http://schemas.openxmlformats.org/drawingml/2006/main" noGrp="1"/>
          </p:cNvSpPr>
          <p:nvPr/>
        </p:nvSpPr>
        <p:spPr>
          <a:xfrm xmlns:a="http://schemas.openxmlformats.org/drawingml/2006/main">
            <a:off x="4438650" y="2381250"/>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11C2505-6D40-4150-9EC2-11BE2BAE7D17}"/>
              </a:ext>
            </a:extLst>
          </p:cNvPr>
          <p:cNvSpPr>
            <a:spLocks xmlns:a="http://schemas.openxmlformats.org/drawingml/2006/main" noGrp="1"/>
          </p:cNvSpPr>
          <p:nvPr/>
        </p:nvSpPr>
        <p:spPr>
          <a:xfrm xmlns:a="http://schemas.openxmlformats.org/drawingml/2006/main">
            <a:off x="4438650" y="262890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Complete the check</a:t>
            </a:r>
          </a:p>
        </p:txBody>
      </p:sp>
      <p:sp>
        <p:nvSpPr>
          <p:cNvPr id="10" name="">
            <a:extLst xmlns:a="http://schemas.openxmlformats.org/drawingml/2006/main">
              <a:ext uri="{FF2B5EF4-FFF2-40B4-BE49-F238E27FC236}">
                <a16:creationId xmlns:a16="http://schemas.microsoft.com/office/drawing/2014/main" id="{C3D584F1-5611-42AD-8395-C850C0026442}"/>
              </a:ext>
            </a:extLst>
          </p:cNvPr>
          <p:cNvSpPr>
            <a:spLocks xmlns:a="http://schemas.openxmlformats.org/drawingml/2006/main" noGrp="1"/>
          </p:cNvSpPr>
          <p:nvPr/>
        </p:nvSpPr>
        <p:spPr>
          <a:xfrm xmlns:a="http://schemas.openxmlformats.org/drawingml/2006/main">
            <a:off x="4438650" y="3400425"/>
            <a:ext cx="3333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Retest feedback appears after the final question.</a:t>
            </a:r>
          </a:p>
        </p:txBody>
      </p:sp>
      <p:sp>
        <p:nvSpPr>
          <p:cNvPr id="11" name="">
            <a:extLst xmlns:a="http://schemas.openxmlformats.org/drawingml/2006/main">
              <a:ext uri="{FF2B5EF4-FFF2-40B4-BE49-F238E27FC236}">
                <a16:creationId xmlns:a16="http://schemas.microsoft.com/office/drawing/2014/main" id="{3287B328-EAB7-437D-993D-15F37EE4B8E2}"/>
              </a:ext>
            </a:extLst>
          </p:cNvPr>
          <p:cNvSpPr>
            <a:spLocks xmlns:a="http://schemas.openxmlformats.org/drawingml/2006/main" noGrp="1"/>
          </p:cNvSpPr>
          <p:nvPr/>
        </p:nvSpPr>
        <p:spPr>
          <a:xfrm xmlns:a="http://schemas.openxmlformats.org/drawingml/2006/main">
            <a:off x="8286750" y="2381250"/>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9F3DF2-9FA7-4477-B290-C61FDFDD688E}"/>
              </a:ext>
            </a:extLst>
          </p:cNvPr>
          <p:cNvSpPr>
            <a:spLocks xmlns:a="http://schemas.openxmlformats.org/drawingml/2006/main" noGrp="1"/>
          </p:cNvSpPr>
          <p:nvPr/>
        </p:nvSpPr>
        <p:spPr>
          <a:xfrm xmlns:a="http://schemas.openxmlformats.org/drawingml/2006/main">
            <a:off x="8286750" y="2628900"/>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Review the result</a:t>
            </a:r>
          </a:p>
        </p:txBody>
      </p:sp>
      <p:sp>
        <p:nvSpPr>
          <p:cNvPr id="13" name="">
            <a:extLst xmlns:a="http://schemas.openxmlformats.org/drawingml/2006/main">
              <a:ext uri="{FF2B5EF4-FFF2-40B4-BE49-F238E27FC236}">
                <a16:creationId xmlns:a16="http://schemas.microsoft.com/office/drawing/2014/main" id="{B274F5FA-B8A5-4189-A9D8-0AB43EF12B7B}"/>
              </a:ext>
            </a:extLst>
          </p:cNvPr>
          <p:cNvSpPr>
            <a:spLocks xmlns:a="http://schemas.openxmlformats.org/drawingml/2006/main" noGrp="1"/>
          </p:cNvSpPr>
          <p:nvPr/>
        </p:nvSpPr>
        <p:spPr>
          <a:xfrm xmlns:a="http://schemas.openxmlformats.org/drawingml/2006/main">
            <a:off x="8286750" y="3400425"/>
            <a:ext cx="323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The student profile and class comparison update.</a:t>
            </a:r>
          </a:p>
        </p:txBody>
      </p:sp>
      <p:sp>
        <p:nvSpPr>
          <p:cNvPr id="14" name="">
            <a:extLst xmlns:a="http://schemas.openxmlformats.org/drawingml/2006/main">
              <a:ext uri="{FF2B5EF4-FFF2-40B4-BE49-F238E27FC236}">
                <a16:creationId xmlns:a16="http://schemas.microsoft.com/office/drawing/2014/main" id="{58FEF0C9-D12B-4C30-AE19-0875325C3CDA}"/>
              </a:ext>
            </a:extLst>
          </p:cNvPr>
          <p:cNvSpPr>
            <a:spLocks xmlns:a="http://schemas.openxmlformats.org/drawingml/2006/main" noGrp="1"/>
          </p:cNvSpPr>
          <p:nvPr/>
        </p:nvSpPr>
        <p:spPr>
          <a:xfrm xmlns:a="http://schemas.openxmlformats.org/drawingml/2006/main">
            <a:off x="590550" y="5410200"/>
            <a:ext cx="10896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07E77"/>
                </a:solidFill>
                <a:latin typeface="Segoe UI"/>
                <a:ea typeface="Segoe UI"/>
                <a:cs typeface="Segoe UI"/>
              </a:defRPr>
            </a:defPPr>
          </a:lstStyle>
          <a:p xmlns:a="http://schemas.openxmlformats.org/drawingml/2006/main">
            <a:pPr>
              <a:defRPr sz="2325" b="1">
                <a:solidFill>
                  <a:srgbClr val="007E77"/>
                </a:solidFill>
                <a:latin typeface="Segoe UI"/>
                <a:ea typeface="Segoe UI"/>
                <a:cs typeface="Segoe UI"/>
              </a:defRPr>
            </a:pPr>
            <a:r>
              <a:rPr sz="2325" b="1">
                <a:solidFill>
                  <a:srgbClr val="007E77"/>
                </a:solidFill>
                <a:latin typeface="Segoe UI"/>
                <a:ea typeface="Segoe UI"/>
                <a:cs typeface="Segoe UI"/>
              </a:rPr>
              <a:t>Immediate performance is useful. Retention needs a later check.</a:t>
            </a:r>
          </a:p>
        </p:txBody>
      </p:sp>
    </p:spTree>
    <p:extLst>
      <p:ext uri="{BB962C8B-B14F-4D97-AF65-F5344CB8AC3E}">
        <p14:creationId xmlns:p14="http://schemas.microsoft.com/office/powerpoint/2010/main" val="897802094"/>
      </p:ext>
    </p:extLst>
  </p:cSld>
</p:sld>
</file>

<file path=ppt/slides/slide7.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95EDBAC-DC9E-4194-9C86-47F0A636B150}"/>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2EA42B-53DE-49BF-9FFA-15652144EAC7}"/>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Two students, different next steps</a:t>
            </a:r>
          </a:p>
        </p:txBody>
      </p:sp>
      <p:sp>
        <p:nvSpPr>
          <p:cNvPr id="3" name="">
            <a:extLst xmlns:a="http://schemas.openxmlformats.org/drawingml/2006/main">
              <a:ext uri="{FF2B5EF4-FFF2-40B4-BE49-F238E27FC236}">
                <a16:creationId xmlns:a16="http://schemas.microsoft.com/office/drawing/2014/main" id="{6840AB31-61BC-4E7F-8B8D-E658A1FBB0AB}"/>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261E5664-BB6F-4797-B782-7F6855AB666C}"/>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07</a:t>
            </a:r>
          </a:p>
        </p:txBody>
      </p:sp>
      <p:sp>
        <p:nvSpPr>
          <p:cNvPr id="5" name="">
            <a:extLst xmlns:a="http://schemas.openxmlformats.org/drawingml/2006/main">
              <a:ext uri="{FF2B5EF4-FFF2-40B4-BE49-F238E27FC236}">
                <a16:creationId xmlns:a16="http://schemas.microsoft.com/office/drawing/2014/main" id="{0DF6A533-8AFB-4B8C-890C-1E116F51D974}"/>
              </a:ext>
            </a:extLst>
          </p:cNvPr>
          <p:cNvSpPr>
            <a:spLocks xmlns:a="http://schemas.openxmlformats.org/drawingml/2006/main" noGrp="1"/>
          </p:cNvSpPr>
          <p:nvPr/>
        </p:nvSpPr>
        <p:spPr>
          <a:xfrm xmlns:a="http://schemas.openxmlformats.org/drawingml/2006/main">
            <a:off x="590550" y="2276475"/>
            <a:ext cx="5238750" cy="3219450"/>
          </a:xfrm>
          <a:prstGeom xmlns:a="http://schemas.openxmlformats.org/drawingml/2006/main" prst="roundRect">
            <a:avLst>
              <a:gd name="adj" fmla="val 2367"/>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0E8078-6F53-4F66-A4D8-3CBF83CB8ED5}"/>
              </a:ext>
            </a:extLst>
          </p:cNvPr>
          <p:cNvSpPr>
            <a:spLocks xmlns:a="http://schemas.openxmlformats.org/drawingml/2006/main" noGrp="1"/>
          </p:cNvSpPr>
          <p:nvPr/>
        </p:nvSpPr>
        <p:spPr>
          <a:xfrm xmlns:a="http://schemas.openxmlformats.org/drawingml/2006/main">
            <a:off x="6200775" y="2276475"/>
            <a:ext cx="5238750" cy="3219450"/>
          </a:xfrm>
          <a:prstGeom xmlns:a="http://schemas.openxmlformats.org/drawingml/2006/main" prst="roundRect">
            <a:avLst>
              <a:gd name="adj" fmla="val 2367"/>
            </a:avLst>
          </a:prstGeom>
          <a:solidFill xmlns:a="http://schemas.openxmlformats.org/drawingml/2006/main">
            <a:srgbClr val="FFFF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32E827B-7333-4194-87BA-44C01057D369}"/>
              </a:ext>
            </a:extLst>
          </p:cNvPr>
          <p:cNvSpPr>
            <a:spLocks xmlns:a="http://schemas.openxmlformats.org/drawingml/2006/main" noGrp="1"/>
          </p:cNvSpPr>
          <p:nvPr/>
        </p:nvSpPr>
        <p:spPr>
          <a:xfrm xmlns:a="http://schemas.openxmlformats.org/drawingml/2006/main">
            <a:off x="857250" y="2562225"/>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93846"/>
                </a:solidFill>
                <a:latin typeface="Segoe UI"/>
                <a:ea typeface="Segoe UI"/>
                <a:cs typeface="Segoe UI"/>
              </a:defRPr>
            </a:defPPr>
          </a:lstStyle>
          <a:p xmlns:a="http://schemas.openxmlformats.org/drawingml/2006/main">
            <a:pPr>
              <a:defRPr sz="2925" b="1">
                <a:solidFill>
                  <a:srgbClr val="193846"/>
                </a:solidFill>
                <a:latin typeface="Segoe UI"/>
                <a:ea typeface="Segoe UI"/>
                <a:cs typeface="Segoe UI"/>
              </a:defRPr>
            </a:pPr>
            <a:r>
              <a:rPr sz="2925" b="1">
                <a:solidFill>
                  <a:srgbClr val="193846"/>
                </a:solidFill>
                <a:latin typeface="Segoe UI"/>
                <a:ea typeface="Segoe UI"/>
                <a:cs typeface="Segoe UI"/>
              </a:rPr>
              <a:t>Asha Raman</a:t>
            </a:r>
          </a:p>
        </p:txBody>
      </p:sp>
      <p:sp>
        <p:nvSpPr>
          <p:cNvPr id="8" name="">
            <a:extLst xmlns:a="http://schemas.openxmlformats.org/drawingml/2006/main">
              <a:ext uri="{FF2B5EF4-FFF2-40B4-BE49-F238E27FC236}">
                <a16:creationId xmlns:a16="http://schemas.microsoft.com/office/drawing/2014/main" id="{B15AA640-9E09-4D24-81B2-34D91526EF33}"/>
              </a:ext>
            </a:extLst>
          </p:cNvPr>
          <p:cNvSpPr>
            <a:spLocks xmlns:a="http://schemas.openxmlformats.org/drawingml/2006/main" noGrp="1"/>
          </p:cNvSpPr>
          <p:nvPr/>
        </p:nvSpPr>
        <p:spPr>
          <a:xfrm xmlns:a="http://schemas.openxmlformats.org/drawingml/2006/main">
            <a:off x="857250" y="337185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07E77"/>
                </a:solidFill>
                <a:latin typeface="Segoe UI"/>
                <a:ea typeface="Segoe UI"/>
                <a:cs typeface="Segoe UI"/>
              </a:defRPr>
            </a:defPPr>
          </a:lstStyle>
          <a:p xmlns:a="http://schemas.openxmlformats.org/drawingml/2006/main">
            <a:pPr>
              <a:defRPr sz="2400" b="1">
                <a:solidFill>
                  <a:srgbClr val="007E77"/>
                </a:solidFill>
                <a:latin typeface="Segoe UI"/>
                <a:ea typeface="Segoe UI"/>
                <a:cs typeface="Segoe UI"/>
              </a:defRPr>
            </a:pPr>
            <a:r>
              <a:rPr sz="2400" b="1">
                <a:solidFill>
                  <a:srgbClr val="007E77"/>
                </a:solidFill>
                <a:latin typeface="Segoe UI"/>
                <a:ea typeface="Segoe UI"/>
                <a:cs typeface="Segoe UI"/>
              </a:rPr>
              <a:t>Nested-loop execution</a:t>
            </a:r>
          </a:p>
        </p:txBody>
      </p:sp>
      <p:sp>
        <p:nvSpPr>
          <p:cNvPr id="9" name="">
            <a:extLst xmlns:a="http://schemas.openxmlformats.org/drawingml/2006/main">
              <a:ext uri="{FF2B5EF4-FFF2-40B4-BE49-F238E27FC236}">
                <a16:creationId xmlns:a16="http://schemas.microsoft.com/office/drawing/2014/main" id="{2159CF65-8665-456E-BE7D-4B9D823D6019}"/>
              </a:ext>
            </a:extLst>
          </p:cNvPr>
          <p:cNvSpPr>
            <a:spLocks xmlns:a="http://schemas.openxmlformats.org/drawingml/2006/main" noGrp="1"/>
          </p:cNvSpPr>
          <p:nvPr/>
        </p:nvSpPr>
        <p:spPr>
          <a:xfrm xmlns:a="http://schemas.openxmlformats.org/drawingml/2006/main">
            <a:off x="857250" y="4295775"/>
            <a:ext cx="4476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F7885"/>
                </a:solidFill>
                <a:latin typeface="Segoe UI"/>
                <a:ea typeface="Segoe UI"/>
                <a:cs typeface="Segoe UI"/>
              </a:defRPr>
            </a:defPPr>
          </a:lstStyle>
          <a:p xmlns:a="http://schemas.openxmlformats.org/drawingml/2006/main">
            <a:pPr>
              <a:defRPr sz="2175" b="0">
                <a:solidFill>
                  <a:srgbClr val="5F7885"/>
                </a:solidFill>
                <a:latin typeface="Segoe UI"/>
                <a:ea typeface="Segoe UI"/>
                <a:cs typeface="Segoe UI"/>
              </a:defRPr>
            </a:pPr>
            <a:r>
              <a:rPr sz="2175" b="0">
                <a:solidFill>
                  <a:srgbClr val="5F7885"/>
                </a:solidFill>
                <a:latin typeface="Segoe UI"/>
                <a:ea typeface="Segoe UI"/>
                <a:cs typeface="Segoe UI"/>
              </a:rPr>
              <a:t>Trace each inner run</a:t>
            </a:r>
          </a:p>
          <a:p xmlns:a="http://schemas.openxmlformats.org/drawingml/2006/main">
            <a:pPr>
              <a:defRPr sz="2175" b="0">
                <a:solidFill>
                  <a:srgbClr val="5F7885"/>
                </a:solidFill>
                <a:latin typeface="Segoe UI"/>
                <a:ea typeface="Segoe UI"/>
                <a:cs typeface="Segoe UI"/>
              </a:defRPr>
            </a:pPr>
            <a:r>
              <a:rPr sz="2175" b="0">
                <a:solidFill>
                  <a:srgbClr val="5F7885"/>
                </a:solidFill>
                <a:latin typeface="Segoe UI"/>
                <a:ea typeface="Segoe UI"/>
                <a:cs typeface="Segoe UI"/>
              </a:rPr>
              <a:t>for every outer iteration.</a:t>
            </a:r>
          </a:p>
        </p:txBody>
      </p:sp>
      <p:sp>
        <p:nvSpPr>
          <p:cNvPr id="10" name="">
            <a:extLst xmlns:a="http://schemas.openxmlformats.org/drawingml/2006/main">
              <a:ext uri="{FF2B5EF4-FFF2-40B4-BE49-F238E27FC236}">
                <a16:creationId xmlns:a16="http://schemas.microsoft.com/office/drawing/2014/main" id="{5F4081EA-AD6E-4A68-BE99-2BCE9BD87053}"/>
              </a:ext>
            </a:extLst>
          </p:cNvPr>
          <p:cNvSpPr>
            <a:spLocks xmlns:a="http://schemas.openxmlformats.org/drawingml/2006/main" noGrp="1"/>
          </p:cNvSpPr>
          <p:nvPr/>
        </p:nvSpPr>
        <p:spPr>
          <a:xfrm xmlns:a="http://schemas.openxmlformats.org/drawingml/2006/main">
            <a:off x="6467475" y="2562225"/>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93846"/>
                </a:solidFill>
                <a:latin typeface="Segoe UI"/>
                <a:ea typeface="Segoe UI"/>
                <a:cs typeface="Segoe UI"/>
              </a:defRPr>
            </a:defPPr>
          </a:lstStyle>
          <a:p xmlns:a="http://schemas.openxmlformats.org/drawingml/2006/main">
            <a:pPr>
              <a:defRPr sz="2925" b="1">
                <a:solidFill>
                  <a:srgbClr val="193846"/>
                </a:solidFill>
                <a:latin typeface="Segoe UI"/>
                <a:ea typeface="Segoe UI"/>
                <a:cs typeface="Segoe UI"/>
              </a:defRPr>
            </a:pPr>
            <a:r>
              <a:rPr sz="2925" b="1">
                <a:solidFill>
                  <a:srgbClr val="193846"/>
                </a:solidFill>
                <a:latin typeface="Segoe UI"/>
                <a:ea typeface="Segoe UI"/>
                <a:cs typeface="Segoe UI"/>
              </a:rPr>
              <a:t>Rahul Raj</a:t>
            </a:r>
          </a:p>
        </p:txBody>
      </p:sp>
      <p:sp>
        <p:nvSpPr>
          <p:cNvPr id="11" name="">
            <a:extLst xmlns:a="http://schemas.openxmlformats.org/drawingml/2006/main">
              <a:ext uri="{FF2B5EF4-FFF2-40B4-BE49-F238E27FC236}">
                <a16:creationId xmlns:a16="http://schemas.microsoft.com/office/drawing/2014/main" id="{8399225F-5403-4670-8404-ED5F95E48153}"/>
              </a:ext>
            </a:extLst>
          </p:cNvPr>
          <p:cNvSpPr>
            <a:spLocks xmlns:a="http://schemas.openxmlformats.org/drawingml/2006/main" noGrp="1"/>
          </p:cNvSpPr>
          <p:nvPr/>
        </p:nvSpPr>
        <p:spPr>
          <a:xfrm xmlns:a="http://schemas.openxmlformats.org/drawingml/2006/main">
            <a:off x="6467475" y="337185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07E77"/>
                </a:solidFill>
                <a:latin typeface="Segoe UI"/>
                <a:ea typeface="Segoe UI"/>
                <a:cs typeface="Segoe UI"/>
              </a:defRPr>
            </a:defPPr>
          </a:lstStyle>
          <a:p xmlns:a="http://schemas.openxmlformats.org/drawingml/2006/main">
            <a:pPr>
              <a:defRPr sz="2400" b="1">
                <a:solidFill>
                  <a:srgbClr val="007E77"/>
                </a:solidFill>
                <a:latin typeface="Segoe UI"/>
                <a:ea typeface="Segoe UI"/>
                <a:cs typeface="Segoe UI"/>
              </a:defRPr>
            </a:pPr>
            <a:r>
              <a:rPr sz="2400" b="1">
                <a:solidFill>
                  <a:srgbClr val="007E77"/>
                </a:solidFill>
                <a:latin typeface="Segoe UI"/>
                <a:ea typeface="Segoe UI"/>
                <a:cs typeface="Segoe UI"/>
              </a:rPr>
              <a:t>Off-by-one errors</a:t>
            </a:r>
          </a:p>
        </p:txBody>
      </p:sp>
      <p:sp>
        <p:nvSpPr>
          <p:cNvPr id="12" name="">
            <a:extLst xmlns:a="http://schemas.openxmlformats.org/drawingml/2006/main">
              <a:ext uri="{FF2B5EF4-FFF2-40B4-BE49-F238E27FC236}">
                <a16:creationId xmlns:a16="http://schemas.microsoft.com/office/drawing/2014/main" id="{48089C41-098A-4AF5-A28E-839D3E74731A}"/>
              </a:ext>
            </a:extLst>
          </p:cNvPr>
          <p:cNvSpPr>
            <a:spLocks xmlns:a="http://schemas.openxmlformats.org/drawingml/2006/main" noGrp="1"/>
          </p:cNvSpPr>
          <p:nvPr/>
        </p:nvSpPr>
        <p:spPr>
          <a:xfrm xmlns:a="http://schemas.openxmlformats.org/drawingml/2006/main">
            <a:off x="6467475" y="4295775"/>
            <a:ext cx="4476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F7885"/>
                </a:solidFill>
                <a:latin typeface="Segoe UI"/>
                <a:ea typeface="Segoe UI"/>
                <a:cs typeface="Segoe UI"/>
              </a:defRPr>
            </a:defPPr>
          </a:lstStyle>
          <a:p xmlns:a="http://schemas.openxmlformats.org/drawingml/2006/main">
            <a:pPr>
              <a:defRPr sz="2175" b="0">
                <a:solidFill>
                  <a:srgbClr val="5F7885"/>
                </a:solidFill>
                <a:latin typeface="Segoe UI"/>
                <a:ea typeface="Segoe UI"/>
                <a:cs typeface="Segoe UI"/>
              </a:defRPr>
            </a:pPr>
            <a:r>
              <a:rPr sz="2175" b="0">
                <a:solidFill>
                  <a:srgbClr val="5F7885"/>
                </a:solidFill>
                <a:latin typeface="Segoe UI"/>
                <a:ea typeface="Segoe UI"/>
                <a:cs typeface="Segoe UI"/>
              </a:rPr>
              <a:t>Check the first value, last value,</a:t>
            </a:r>
          </a:p>
          <a:p xmlns:a="http://schemas.openxmlformats.org/drawingml/2006/main">
            <a:pPr>
              <a:defRPr sz="2175" b="0">
                <a:solidFill>
                  <a:srgbClr val="5F7885"/>
                </a:solidFill>
                <a:latin typeface="Segoe UI"/>
                <a:ea typeface="Segoe UI"/>
                <a:cs typeface="Segoe UI"/>
              </a:defRPr>
            </a:pPr>
            <a:r>
              <a:rPr sz="2175" b="0">
                <a:solidFill>
                  <a:srgbClr val="5F7885"/>
                </a:solidFill>
                <a:latin typeface="Segoe UI"/>
                <a:ea typeface="Segoe UI"/>
                <a:cs typeface="Segoe UI"/>
              </a:rPr>
              <a:t>and number of iterations.</a:t>
            </a:r>
          </a:p>
        </p:txBody>
      </p:sp>
    </p:spTree>
    <p:extLst>
      <p:ext uri="{BB962C8B-B14F-4D97-AF65-F5344CB8AC3E}">
        <p14:creationId xmlns:p14="http://schemas.microsoft.com/office/powerpoint/2010/main" val="854981695"/>
      </p:ext>
    </p:extLst>
  </p:cSld>
</p:sld>
</file>

<file path=ppt/slides/slide8.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36E379B-FE8F-42B1-B40B-9627FEC87B34}"/>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D0312E-E324-4CC8-A129-6965D3061B6E}"/>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Ishaan: start with evidence</a:t>
            </a:r>
          </a:p>
        </p:txBody>
      </p:sp>
      <p:sp>
        <p:nvSpPr>
          <p:cNvPr id="3" name="">
            <a:extLst xmlns:a="http://schemas.openxmlformats.org/drawingml/2006/main">
              <a:ext uri="{FF2B5EF4-FFF2-40B4-BE49-F238E27FC236}">
                <a16:creationId xmlns:a16="http://schemas.microsoft.com/office/drawing/2014/main" id="{092654D6-FEB9-45E2-99AD-24BC2A88357C}"/>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DA5B2B77-358D-4CDC-A8C0-43E560D2A314}"/>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08</a:t>
            </a:r>
          </a:p>
        </p:txBody>
      </p:sp>
      <p:sp>
        <p:nvSpPr>
          <p:cNvPr id="5" name="">
            <a:extLst xmlns:a="http://schemas.openxmlformats.org/drawingml/2006/main">
              <a:ext uri="{FF2B5EF4-FFF2-40B4-BE49-F238E27FC236}">
                <a16:creationId xmlns:a16="http://schemas.microsoft.com/office/drawing/2014/main" id="{6665468E-CBCC-4115-81F1-8E4FCD941EBC}"/>
              </a:ext>
            </a:extLst>
          </p:cNvPr>
          <p:cNvSpPr>
            <a:spLocks xmlns:a="http://schemas.openxmlformats.org/drawingml/2006/main" noGrp="1"/>
          </p:cNvSpPr>
          <p:nvPr/>
        </p:nvSpPr>
        <p:spPr>
          <a:xfrm xmlns:a="http://schemas.openxmlformats.org/drawingml/2006/main">
            <a:off x="590550" y="2419350"/>
            <a:ext cx="666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250" b="1">
                <a:solidFill>
                  <a:srgbClr val="007E77"/>
                </a:solidFill>
                <a:latin typeface="Segoe UI"/>
                <a:ea typeface="Segoe UI"/>
                <a:cs typeface="Segoe UI"/>
              </a:defRPr>
            </a:defPPr>
          </a:lstStyle>
          <a:p xmlns:a="http://schemas.openxmlformats.org/drawingml/2006/main">
            <a:pPr>
              <a:defRPr sz="5250" b="1">
                <a:solidFill>
                  <a:srgbClr val="007E77"/>
                </a:solidFill>
                <a:latin typeface="Segoe UI"/>
                <a:ea typeface="Segoe UI"/>
                <a:cs typeface="Segoe UI"/>
              </a:defRPr>
            </a:pPr>
            <a:r>
              <a:rPr sz="5250" b="1">
                <a:solidFill>
                  <a:srgbClr val="007E77"/>
                </a:solidFill>
                <a:latin typeface="Segoe UI"/>
                <a:ea typeface="Segoe UI"/>
                <a:cs typeface="Segoe UI"/>
              </a:rPr>
              <a:t>Not assessed</a:t>
            </a:r>
          </a:p>
        </p:txBody>
      </p:sp>
      <p:sp>
        <p:nvSpPr>
          <p:cNvPr id="6" name="">
            <a:extLst xmlns:a="http://schemas.openxmlformats.org/drawingml/2006/main">
              <a:ext uri="{FF2B5EF4-FFF2-40B4-BE49-F238E27FC236}">
                <a16:creationId xmlns:a16="http://schemas.microsoft.com/office/drawing/2014/main" id="{168CF465-AF89-45CE-98AC-003E9DBADE75}"/>
              </a:ext>
            </a:extLst>
          </p:cNvPr>
          <p:cNvSpPr>
            <a:spLocks xmlns:a="http://schemas.openxmlformats.org/drawingml/2006/main" noGrp="1"/>
          </p:cNvSpPr>
          <p:nvPr/>
        </p:nvSpPr>
        <p:spPr>
          <a:xfrm xmlns:a="http://schemas.openxmlformats.org/drawingml/2006/main">
            <a:off x="590550" y="3771900"/>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0">
                <a:solidFill>
                  <a:srgbClr val="193846"/>
                </a:solidFill>
                <a:latin typeface="Segoe UI"/>
                <a:ea typeface="Segoe UI"/>
                <a:cs typeface="Segoe UI"/>
              </a:defRPr>
            </a:defPPr>
          </a:lstStyle>
          <a:p xmlns:a="http://schemas.openxmlformats.org/drawingml/2006/main">
            <a:pPr>
              <a:defRPr sz="2775" b="0">
                <a:solidFill>
                  <a:srgbClr val="193846"/>
                </a:solidFill>
                <a:latin typeface="Segoe UI"/>
                <a:ea typeface="Segoe UI"/>
                <a:cs typeface="Segoe UI"/>
              </a:defRPr>
            </a:pPr>
            <a:r>
              <a:rPr sz="2775" b="0">
                <a:solidFill>
                  <a:srgbClr val="193846"/>
                </a:solidFill>
                <a:latin typeface="Segoe UI"/>
                <a:ea typeface="Segoe UI"/>
                <a:cs typeface="Segoe UI"/>
              </a:rPr>
              <a:t>Missing answers should lead to a diagnostic,</a:t>
            </a:r>
          </a:p>
          <a:p xmlns:a="http://schemas.openxmlformats.org/drawingml/2006/main">
            <a:pPr>
              <a:defRPr sz="2775" b="0">
                <a:solidFill>
                  <a:srgbClr val="193846"/>
                </a:solidFill>
                <a:latin typeface="Segoe UI"/>
                <a:ea typeface="Segoe UI"/>
                <a:cs typeface="Segoe UI"/>
              </a:defRPr>
            </a:pPr>
            <a:r>
              <a:rPr sz="2775" b="0">
                <a:solidFill>
                  <a:srgbClr val="193846"/>
                </a:solidFill>
                <a:latin typeface="Segoe UI"/>
                <a:ea typeface="Segoe UI"/>
                <a:cs typeface="Segoe UI"/>
              </a:rPr>
              <a:t>not an invented support score.</a:t>
            </a:r>
          </a:p>
        </p:txBody>
      </p:sp>
      <p:sp>
        <p:nvSpPr>
          <p:cNvPr id="7" name="">
            <a:extLst xmlns:a="http://schemas.openxmlformats.org/drawingml/2006/main">
              <a:ext uri="{FF2B5EF4-FFF2-40B4-BE49-F238E27FC236}">
                <a16:creationId xmlns:a16="http://schemas.microsoft.com/office/drawing/2014/main" id="{904EEFE0-9389-4DC1-A3D3-D0759BD394EA}"/>
              </a:ext>
            </a:extLst>
          </p:cNvPr>
          <p:cNvSpPr>
            <a:spLocks xmlns:a="http://schemas.openxmlformats.org/drawingml/2006/main" noGrp="1"/>
          </p:cNvSpPr>
          <p:nvPr/>
        </p:nvSpPr>
        <p:spPr>
          <a:xfrm xmlns:a="http://schemas.openxmlformats.org/drawingml/2006/main">
            <a:off x="590550" y="5429250"/>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F7885"/>
                </a:solidFill>
                <a:latin typeface="Segoe UI"/>
                <a:ea typeface="Segoe UI"/>
                <a:cs typeface="Segoe UI"/>
              </a:defRPr>
            </a:defPPr>
          </a:lstStyle>
          <a:p xmlns:a="http://schemas.openxmlformats.org/drawingml/2006/main">
            <a:pPr>
              <a:defRPr sz="2250" b="0">
                <a:solidFill>
                  <a:srgbClr val="5F7885"/>
                </a:solidFill>
                <a:latin typeface="Segoe UI"/>
                <a:ea typeface="Segoe UI"/>
                <a:cs typeface="Segoe UI"/>
              </a:defRPr>
            </a:pPr>
            <a:r>
              <a:rPr sz="2250" b="0">
                <a:solidFill>
                  <a:srgbClr val="5F7885"/>
                </a:solidFill>
                <a:latin typeface="Segoe UI"/>
                <a:ea typeface="Segoe UI"/>
                <a:cs typeface="Segoe UI"/>
              </a:rPr>
              <a:t>Short diagnostic  →  Limited evidence  →  A focused next step</a:t>
            </a:r>
          </a:p>
        </p:txBody>
      </p:sp>
    </p:spTree>
    <p:extLst>
      <p:ext uri="{BB962C8B-B14F-4D97-AF65-F5344CB8AC3E}">
        <p14:creationId xmlns:p14="http://schemas.microsoft.com/office/powerpoint/2010/main" val="1636740045"/>
      </p:ext>
    </p:extLst>
  </p:cSld>
</p:sld>
</file>

<file path=ppt/slides/slide9.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A7A52FA-0B49-44B0-B9CA-F2D12E318825}"/>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07C7D-0073-4551-B846-A0FB693C41C8}"/>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193846"/>
                </a:solidFill>
                <a:latin typeface="Segoe UI"/>
                <a:ea typeface="Segoe UI"/>
                <a:cs typeface="Segoe UI"/>
              </a:defRPr>
            </a:defPPr>
          </a:lstStyle>
          <a:p xmlns:a="http://schemas.openxmlformats.org/drawingml/2006/main">
            <a:pPr>
              <a:defRPr sz="3825" b="1">
                <a:solidFill>
                  <a:srgbClr val="193846"/>
                </a:solidFill>
                <a:latin typeface="Segoe UI"/>
                <a:ea typeface="Segoe UI"/>
                <a:cs typeface="Segoe UI"/>
              </a:defRPr>
            </a:pPr>
            <a:r>
              <a:rPr sz="3825" b="1">
                <a:solidFill>
                  <a:srgbClr val="193846"/>
                </a:solidFill>
                <a:latin typeface="Segoe UI"/>
                <a:ea typeface="Segoe UI"/>
                <a:cs typeface="Segoe UI"/>
              </a:rPr>
              <a:t>Omar: bring a mentor into the loop</a:t>
            </a:r>
          </a:p>
        </p:txBody>
      </p:sp>
      <p:sp>
        <p:nvSpPr>
          <p:cNvPr id="3" name="">
            <a:extLst xmlns:a="http://schemas.openxmlformats.org/drawingml/2006/main">
              <a:ext uri="{FF2B5EF4-FFF2-40B4-BE49-F238E27FC236}">
                <a16:creationId xmlns:a16="http://schemas.microsoft.com/office/drawing/2014/main" id="{0DD91B8B-41B5-4EEB-801C-D4893E8F589E}"/>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3E36EB89-5F49-43EA-A639-A1242296EDF6}"/>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09</a:t>
            </a:r>
          </a:p>
        </p:txBody>
      </p:sp>
      <p:sp>
        <p:nvSpPr>
          <p:cNvPr id="5" name="">
            <a:extLst xmlns:a="http://schemas.openxmlformats.org/drawingml/2006/main">
              <a:ext uri="{FF2B5EF4-FFF2-40B4-BE49-F238E27FC236}">
                <a16:creationId xmlns:a16="http://schemas.microsoft.com/office/drawing/2014/main" id="{4F2C9664-1697-4204-8165-BC4E3FD437F8}"/>
              </a:ext>
            </a:extLst>
          </p:cNvPr>
          <p:cNvSpPr>
            <a:spLocks xmlns:a="http://schemas.openxmlformats.org/drawingml/2006/main" noGrp="1"/>
          </p:cNvSpPr>
          <p:nvPr/>
        </p:nvSpPr>
        <p:spPr>
          <a:xfrm xmlns:a="http://schemas.openxmlformats.org/drawingml/2006/main">
            <a:off x="590550" y="2381250"/>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AA7B0EC-C21C-4D8B-A1B0-477410C61D4F}"/>
              </a:ext>
            </a:extLst>
          </p:cNvPr>
          <p:cNvSpPr>
            <a:spLocks xmlns:a="http://schemas.openxmlformats.org/drawingml/2006/main" noGrp="1"/>
          </p:cNvSpPr>
          <p:nvPr/>
        </p:nvSpPr>
        <p:spPr>
          <a:xfrm xmlns:a="http://schemas.openxmlformats.org/drawingml/2006/main">
            <a:off x="590550" y="262890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Inspect the reason</a:t>
            </a:r>
          </a:p>
        </p:txBody>
      </p:sp>
      <p:sp>
        <p:nvSpPr>
          <p:cNvPr id="7" name="">
            <a:extLst xmlns:a="http://schemas.openxmlformats.org/drawingml/2006/main">
              <a:ext uri="{FF2B5EF4-FFF2-40B4-BE49-F238E27FC236}">
                <a16:creationId xmlns:a16="http://schemas.microsoft.com/office/drawing/2014/main" id="{AC6FDDCA-6AD2-4518-90DB-434E06D7ACBB}"/>
              </a:ext>
            </a:extLst>
          </p:cNvPr>
          <p:cNvSpPr>
            <a:spLocks xmlns:a="http://schemas.openxmlformats.org/drawingml/2006/main" noGrp="1"/>
          </p:cNvSpPr>
          <p:nvPr/>
        </p:nvSpPr>
        <p:spPr>
          <a:xfrm xmlns:a="http://schemas.openxmlformats.org/drawingml/2006/main">
            <a:off x="590550" y="3400425"/>
            <a:ext cx="3333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See the student, concept, and saved evidence.</a:t>
            </a:r>
          </a:p>
        </p:txBody>
      </p:sp>
      <p:sp>
        <p:nvSpPr>
          <p:cNvPr id="8" name="">
            <a:extLst xmlns:a="http://schemas.openxmlformats.org/drawingml/2006/main">
              <a:ext uri="{FF2B5EF4-FFF2-40B4-BE49-F238E27FC236}">
                <a16:creationId xmlns:a16="http://schemas.microsoft.com/office/drawing/2014/main" id="{2B37A6C1-BE96-4FA2-AA95-F3DDE1E93745}"/>
              </a:ext>
            </a:extLst>
          </p:cNvPr>
          <p:cNvSpPr>
            <a:spLocks xmlns:a="http://schemas.openxmlformats.org/drawingml/2006/main" noGrp="1"/>
          </p:cNvSpPr>
          <p:nvPr/>
        </p:nvSpPr>
        <p:spPr>
          <a:xfrm xmlns:a="http://schemas.openxmlformats.org/drawingml/2006/main">
            <a:off x="4438650" y="2381250"/>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6F1AFE-EF69-4BEC-9611-E4805180BDB3}"/>
              </a:ext>
            </a:extLst>
          </p:cNvPr>
          <p:cNvSpPr>
            <a:spLocks xmlns:a="http://schemas.openxmlformats.org/drawingml/2006/main" noGrp="1"/>
          </p:cNvSpPr>
          <p:nvPr/>
        </p:nvSpPr>
        <p:spPr>
          <a:xfrm xmlns:a="http://schemas.openxmlformats.org/drawingml/2006/main">
            <a:off x="4438650" y="262890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Acknowledge review</a:t>
            </a:r>
          </a:p>
        </p:txBody>
      </p:sp>
      <p:sp>
        <p:nvSpPr>
          <p:cNvPr id="10" name="">
            <a:extLst xmlns:a="http://schemas.openxmlformats.org/drawingml/2006/main">
              <a:ext uri="{FF2B5EF4-FFF2-40B4-BE49-F238E27FC236}">
                <a16:creationId xmlns:a16="http://schemas.microsoft.com/office/drawing/2014/main" id="{AB85CB36-36E3-421B-ADE8-BA885F32F438}"/>
              </a:ext>
            </a:extLst>
          </p:cNvPr>
          <p:cNvSpPr>
            <a:spLocks xmlns:a="http://schemas.openxmlformats.org/drawingml/2006/main" noGrp="1"/>
          </p:cNvSpPr>
          <p:nvPr/>
        </p:nvSpPr>
        <p:spPr>
          <a:xfrm xmlns:a="http://schemas.openxmlformats.org/drawingml/2006/main">
            <a:off x="4438650" y="3400425"/>
            <a:ext cx="3333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Record that the faculty member has seen the item.</a:t>
            </a:r>
          </a:p>
        </p:txBody>
      </p:sp>
      <p:sp>
        <p:nvSpPr>
          <p:cNvPr id="11" name="">
            <a:extLst xmlns:a="http://schemas.openxmlformats.org/drawingml/2006/main">
              <a:ext uri="{FF2B5EF4-FFF2-40B4-BE49-F238E27FC236}">
                <a16:creationId xmlns:a16="http://schemas.microsoft.com/office/drawing/2014/main" id="{3BF94AC4-7281-423F-9171-4FB9AAEF45E8}"/>
              </a:ext>
            </a:extLst>
          </p:cNvPr>
          <p:cNvSpPr>
            <a:spLocks xmlns:a="http://schemas.openxmlformats.org/drawingml/2006/main" noGrp="1"/>
          </p:cNvSpPr>
          <p:nvPr/>
        </p:nvSpPr>
        <p:spPr>
          <a:xfrm xmlns:a="http://schemas.openxmlformats.org/drawingml/2006/main">
            <a:off x="8286750" y="2381250"/>
            <a:ext cx="419100" cy="47625"/>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7AE2C06-E27C-4075-B282-5BF820C80F83}"/>
              </a:ext>
            </a:extLst>
          </p:cNvPr>
          <p:cNvSpPr>
            <a:spLocks xmlns:a="http://schemas.openxmlformats.org/drawingml/2006/main" noGrp="1"/>
          </p:cNvSpPr>
          <p:nvPr/>
        </p:nvSpPr>
        <p:spPr>
          <a:xfrm xmlns:a="http://schemas.openxmlformats.org/drawingml/2006/main">
            <a:off x="8286750" y="2628900"/>
            <a:ext cx="323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93846"/>
                </a:solidFill>
                <a:latin typeface="Segoe UI"/>
                <a:ea typeface="Segoe UI"/>
                <a:cs typeface="Segoe UI"/>
              </a:defRPr>
            </a:defPPr>
          </a:lstStyle>
          <a:p xmlns:a="http://schemas.openxmlformats.org/drawingml/2006/main">
            <a:pPr>
              <a:defRPr sz="2400" b="1">
                <a:solidFill>
                  <a:srgbClr val="193846"/>
                </a:solidFill>
                <a:latin typeface="Segoe UI"/>
                <a:ea typeface="Segoe UI"/>
                <a:cs typeface="Segoe UI"/>
              </a:defRPr>
            </a:pPr>
            <a:r>
              <a:rPr sz="2400" b="1">
                <a:solidFill>
                  <a:srgbClr val="193846"/>
                </a:solidFill>
                <a:latin typeface="Segoe UI"/>
                <a:ea typeface="Segoe UI"/>
                <a:cs typeface="Segoe UI"/>
              </a:rPr>
              <a:t>Agree the next step</a:t>
            </a:r>
          </a:p>
        </p:txBody>
      </p:sp>
      <p:sp>
        <p:nvSpPr>
          <p:cNvPr id="13" name="">
            <a:extLst xmlns:a="http://schemas.openxmlformats.org/drawingml/2006/main">
              <a:ext uri="{FF2B5EF4-FFF2-40B4-BE49-F238E27FC236}">
                <a16:creationId xmlns:a16="http://schemas.microsoft.com/office/drawing/2014/main" id="{A3B9B76E-CA08-4531-81AB-9528EE40FE1D}"/>
              </a:ext>
            </a:extLst>
          </p:cNvPr>
          <p:cNvSpPr>
            <a:spLocks xmlns:a="http://schemas.openxmlformats.org/drawingml/2006/main" noGrp="1"/>
          </p:cNvSpPr>
          <p:nvPr/>
        </p:nvSpPr>
        <p:spPr>
          <a:xfrm xmlns:a="http://schemas.openxmlformats.org/drawingml/2006/main">
            <a:off x="8286750" y="3400425"/>
            <a:ext cx="3238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F7885"/>
                </a:solidFill>
                <a:latin typeface="Segoe UI"/>
                <a:ea typeface="Segoe UI"/>
                <a:cs typeface="Segoe UI"/>
              </a:defRPr>
            </a:defPPr>
          </a:lstStyle>
          <a:p xmlns:a="http://schemas.openxmlformats.org/drawingml/2006/main">
            <a:pPr>
              <a:defRPr sz="1950" b="0">
                <a:solidFill>
                  <a:srgbClr val="5F7885"/>
                </a:solidFill>
                <a:latin typeface="Segoe UI"/>
                <a:ea typeface="Segoe UI"/>
                <a:cs typeface="Segoe UI"/>
              </a:defRPr>
            </a:pPr>
            <a:r>
              <a:rPr sz="1950" b="0">
                <a:solidFill>
                  <a:srgbClr val="5F7885"/>
                </a:solidFill>
                <a:latin typeface="Segoe UI"/>
                <a:ea typeface="Segoe UI"/>
                <a:cs typeface="Segoe UI"/>
              </a:rPr>
              <a:t>Use a conversation when further support is needed.</a:t>
            </a:r>
          </a:p>
        </p:txBody>
      </p:sp>
      <p:sp>
        <p:nvSpPr>
          <p:cNvPr id="14" name="">
            <a:extLst xmlns:a="http://schemas.openxmlformats.org/drawingml/2006/main">
              <a:ext uri="{FF2B5EF4-FFF2-40B4-BE49-F238E27FC236}">
                <a16:creationId xmlns:a16="http://schemas.microsoft.com/office/drawing/2014/main" id="{91642BCB-7E01-48F0-A4DE-9D05A63EC15B}"/>
              </a:ext>
            </a:extLst>
          </p:cNvPr>
          <p:cNvSpPr>
            <a:spLocks xmlns:a="http://schemas.openxmlformats.org/drawingml/2006/main" noGrp="1"/>
          </p:cNvSpPr>
          <p:nvPr/>
        </p:nvSpPr>
        <p:spPr>
          <a:xfrm xmlns:a="http://schemas.openxmlformats.org/drawingml/2006/main">
            <a:off x="590550" y="5381625"/>
            <a:ext cx="10953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07E77"/>
                </a:solidFill>
                <a:latin typeface="Segoe UI"/>
                <a:ea typeface="Segoe UI"/>
                <a:cs typeface="Segoe UI"/>
              </a:defRPr>
            </a:defPPr>
          </a:lstStyle>
          <a:p xmlns:a="http://schemas.openxmlformats.org/drawingml/2006/main">
            <a:pPr>
              <a:defRPr sz="2250" b="1">
                <a:solidFill>
                  <a:srgbClr val="007E77"/>
                </a:solidFill>
                <a:latin typeface="Segoe UI"/>
                <a:ea typeface="Segoe UI"/>
                <a:cs typeface="Segoe UI"/>
              </a:defRPr>
            </a:pPr>
            <a:r>
              <a:rPr sz="2250" b="1">
                <a:solidFill>
                  <a:srgbClr val="007E77"/>
                </a:solidFill>
                <a:latin typeface="Segoe UI"/>
                <a:ea typeface="Segoe UI"/>
                <a:cs typeface="Segoe UI"/>
              </a:rPr>
              <a:t>Acknowledgement records attention; it does not resolve the learning gap.</a:t>
            </a:r>
          </a:p>
        </p:txBody>
      </p:sp>
    </p:spTree>
    <p:extLst>
      <p:ext uri="{BB962C8B-B14F-4D97-AF65-F5344CB8AC3E}">
        <p14:creationId xmlns:p14="http://schemas.microsoft.com/office/powerpoint/2010/main" val="1244511794"/>
      </p:ext>
    </p:extLst>
  </p:cSld>
</p:sld>
</file>

<file path=ppt/slides/slide10.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4FD64EC3-510B-4401-8F48-1F4B814853DC}"/>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C910D2-08FB-4EDE-818E-23E8C9D5DD26}"/>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FFFFF"/>
                </a:solidFill>
                <a:latin typeface="Segoe UI"/>
                <a:ea typeface="Segoe UI"/>
                <a:cs typeface="Segoe UI"/>
              </a:defRPr>
            </a:defPPr>
          </a:lstStyle>
          <a:p xmlns:a="http://schemas.openxmlformats.org/drawingml/2006/main">
            <a:pPr>
              <a:defRPr sz="3825" b="1">
                <a:solidFill>
                  <a:srgbClr val="FFFFFF"/>
                </a:solidFill>
                <a:latin typeface="Segoe UI"/>
                <a:ea typeface="Segoe UI"/>
                <a:cs typeface="Segoe UI"/>
              </a:defRPr>
            </a:pPr>
            <a:r>
              <a:rPr sz="3825" b="1">
                <a:solidFill>
                  <a:srgbClr val="FFFFFF"/>
                </a:solidFill>
                <a:latin typeface="Segoe UI"/>
                <a:ea typeface="Segoe UI"/>
                <a:cs typeface="Segoe UI"/>
              </a:rPr>
              <a:t>The product, end to end</a:t>
            </a:r>
          </a:p>
        </p:txBody>
      </p:sp>
      <p:sp>
        <p:nvSpPr>
          <p:cNvPr id="3" name="">
            <a:extLst xmlns:a="http://schemas.openxmlformats.org/drawingml/2006/main">
              <a:ext uri="{FF2B5EF4-FFF2-40B4-BE49-F238E27FC236}">
                <a16:creationId xmlns:a16="http://schemas.microsoft.com/office/drawing/2014/main" id="{3BB326EB-0BA5-49AC-9140-761D9F603CE2}"/>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9EC2CB"/>
                </a:solidFill>
                <a:latin typeface="Segoe UI"/>
                <a:ea typeface="Segoe UI"/>
                <a:cs typeface="Segoe UI"/>
              </a:defRPr>
            </a:defPPr>
          </a:lstStyle>
          <a:p xmlns:a="http://schemas.openxmlformats.org/drawingml/2006/main">
            <a:pPr>
              <a:defRPr sz="1350" b="1">
                <a:solidFill>
                  <a:srgbClr val="9EC2CB"/>
                </a:solidFill>
                <a:latin typeface="Segoe UI"/>
                <a:ea typeface="Segoe UI"/>
                <a:cs typeface="Segoe UI"/>
              </a:defRPr>
            </a:pPr>
            <a:r>
              <a:rPr sz="1350" b="1">
                <a:solidFill>
                  <a:srgbClr val="9EC2CB"/>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0B0B94E4-BF0C-436D-832B-F3418581B548}"/>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9EC2CB"/>
                </a:solidFill>
                <a:latin typeface="Segoe UI"/>
                <a:ea typeface="Segoe UI"/>
                <a:cs typeface="Segoe UI"/>
              </a:defRPr>
            </a:defPPr>
          </a:lstStyle>
          <a:p xmlns:a="http://schemas.openxmlformats.org/drawingml/2006/main">
            <a:pPr>
              <a:defRPr sz="1350" b="0">
                <a:solidFill>
                  <a:srgbClr val="9EC2CB"/>
                </a:solidFill>
                <a:latin typeface="Segoe UI"/>
                <a:ea typeface="Segoe UI"/>
                <a:cs typeface="Segoe UI"/>
              </a:defRPr>
            </a:pPr>
            <a:r>
              <a:rPr sz="1350" b="0">
                <a:solidFill>
                  <a:srgbClr val="9EC2CB"/>
                </a:solidFill>
                <a:latin typeface="Segoe UI"/>
                <a:ea typeface="Segoe UI"/>
                <a:cs typeface="Segoe UI"/>
              </a:rPr>
              <a:t>10</a:t>
            </a:r>
          </a:p>
        </p:txBody>
      </p:sp>
      <p:sp>
        <p:nvSpPr>
          <p:cNvPr id="5" name="">
            <a:extLst xmlns:a="http://schemas.openxmlformats.org/drawingml/2006/main">
              <a:ext uri="{FF2B5EF4-FFF2-40B4-BE49-F238E27FC236}">
                <a16:creationId xmlns:a16="http://schemas.microsoft.com/office/drawing/2014/main" id="{48A70DC9-DEC1-45CE-B69A-77E30E873F3B}"/>
              </a:ext>
            </a:extLst>
          </p:cNvPr>
          <p:cNvSpPr>
            <a:spLocks xmlns:a="http://schemas.openxmlformats.org/drawingml/2006/main" noGrp="1"/>
          </p:cNvSpPr>
          <p:nvPr/>
        </p:nvSpPr>
        <p:spPr>
          <a:xfrm xmlns:a="http://schemas.openxmlformats.org/drawingml/2006/main">
            <a:off x="590550" y="2066925"/>
            <a:ext cx="3476625" cy="1057275"/>
          </a:xfrm>
          <a:prstGeom xmlns:a="http://schemas.openxmlformats.org/drawingml/2006/main" prst="roundRect">
            <a:avLst>
              <a:gd name="adj" fmla="val 7207"/>
            </a:avLst>
          </a:prstGeom>
          <a:solidFill xmlns:a="http://schemas.openxmlformats.org/drawingml/2006/main">
            <a:srgbClr val="1C4350"/>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EEFBD7-85B6-44D6-BA42-0569EAB44716}"/>
              </a:ext>
            </a:extLst>
          </p:cNvPr>
          <p:cNvSpPr>
            <a:spLocks xmlns:a="http://schemas.openxmlformats.org/drawingml/2006/main" noGrp="1"/>
          </p:cNvSpPr>
          <p:nvPr/>
        </p:nvSpPr>
        <p:spPr>
          <a:xfrm xmlns:a="http://schemas.openxmlformats.org/drawingml/2006/main">
            <a:off x="733425" y="2209800"/>
            <a:ext cx="32099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FFFFF"/>
                </a:solidFill>
                <a:latin typeface="Segoe UI"/>
                <a:ea typeface="Segoe UI"/>
                <a:cs typeface="Segoe UI"/>
              </a:defRPr>
            </a:defPPr>
          </a:lstStyle>
          <a:p xmlns:a="http://schemas.openxmlformats.org/drawingml/2006/main">
            <a:pPr>
              <a:defRPr sz="2100" b="1">
                <a:solidFill>
                  <a:srgbClr val="FFFFFF"/>
                </a:solidFill>
                <a:latin typeface="Segoe UI"/>
                <a:ea typeface="Segoe UI"/>
                <a:cs typeface="Segoe UI"/>
              </a:defRPr>
            </a:pPr>
            <a:r>
              <a:rPr sz="2100" b="1">
                <a:solidFill>
                  <a:srgbClr val="FFFFFF"/>
                </a:solidFill>
                <a:latin typeface="Segoe UI"/>
                <a:ea typeface="Segoe UI"/>
                <a:cs typeface="Segoe UI"/>
              </a:rPr>
              <a:t>Students + faculty</a:t>
            </a:r>
          </a:p>
        </p:txBody>
      </p:sp>
      <p:sp>
        <p:nvSpPr>
          <p:cNvPr id="7" name="">
            <a:extLst xmlns:a="http://schemas.openxmlformats.org/drawingml/2006/main">
              <a:ext uri="{FF2B5EF4-FFF2-40B4-BE49-F238E27FC236}">
                <a16:creationId xmlns:a16="http://schemas.microsoft.com/office/drawing/2014/main" id="{E1C5BE96-E3A5-401F-8436-21773B094283}"/>
              </a:ext>
            </a:extLst>
          </p:cNvPr>
          <p:cNvSpPr>
            <a:spLocks xmlns:a="http://schemas.openxmlformats.org/drawingml/2006/main" noGrp="1"/>
          </p:cNvSpPr>
          <p:nvPr/>
        </p:nvSpPr>
        <p:spPr>
          <a:xfrm xmlns:a="http://schemas.openxmlformats.org/drawingml/2006/main">
            <a:off x="733425" y="2676525"/>
            <a:ext cx="3209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ED5DB"/>
                </a:solidFill>
                <a:latin typeface="Segoe UI"/>
                <a:ea typeface="Segoe UI"/>
                <a:cs typeface="Segoe UI"/>
              </a:defRPr>
            </a:defPPr>
          </a:lstStyle>
          <a:p xmlns:a="http://schemas.openxmlformats.org/drawingml/2006/main">
            <a:pPr>
              <a:defRPr sz="1725" b="0">
                <a:solidFill>
                  <a:srgbClr val="BED5DB"/>
                </a:solidFill>
                <a:latin typeface="Segoe UI"/>
                <a:ea typeface="Segoe UI"/>
                <a:cs typeface="Segoe UI"/>
              </a:defRPr>
            </a:pPr>
            <a:r>
              <a:rPr sz="1725" b="0">
                <a:solidFill>
                  <a:srgbClr val="BED5DB"/>
                </a:solidFill>
                <a:latin typeface="Segoe UI"/>
                <a:ea typeface="Segoe UI"/>
                <a:cs typeface="Segoe UI"/>
              </a:rPr>
              <a:t>Browser workspace</a:t>
            </a:r>
          </a:p>
        </p:txBody>
      </p:sp>
      <p:sp>
        <p:nvSpPr>
          <p:cNvPr id="8" name="">
            <a:extLst xmlns:a="http://schemas.openxmlformats.org/drawingml/2006/main">
              <a:ext uri="{FF2B5EF4-FFF2-40B4-BE49-F238E27FC236}">
                <a16:creationId xmlns:a16="http://schemas.microsoft.com/office/drawing/2014/main" id="{F9791F52-EB1B-4E64-8244-2B7A89389A27}"/>
              </a:ext>
            </a:extLst>
          </p:cNvPr>
          <p:cNvSpPr>
            <a:spLocks xmlns:a="http://schemas.openxmlformats.org/drawingml/2006/main" noGrp="1"/>
          </p:cNvSpPr>
          <p:nvPr/>
        </p:nvSpPr>
        <p:spPr>
          <a:xfrm xmlns:a="http://schemas.openxmlformats.org/drawingml/2006/main">
            <a:off x="4067175" y="2352675"/>
            <a:ext cx="38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76D4BF"/>
                </a:solidFill>
                <a:latin typeface="Segoe UI"/>
                <a:ea typeface="Segoe UI"/>
                <a:cs typeface="Segoe UI"/>
              </a:defRPr>
            </a:defPPr>
          </a:lstStyle>
          <a:p xmlns:a="http://schemas.openxmlformats.org/drawingml/2006/main">
            <a:pPr>
              <a:defRPr sz="2250" b="0">
                <a:solidFill>
                  <a:srgbClr val="76D4BF"/>
                </a:solidFill>
                <a:latin typeface="Segoe UI"/>
                <a:ea typeface="Segoe UI"/>
                <a:cs typeface="Segoe UI"/>
              </a:defRPr>
            </a:pPr>
            <a:r>
              <a:rPr sz="2250" b="0">
                <a:solidFill>
                  <a:srgbClr val="76D4BF"/>
                </a:solidFill>
                <a:latin typeface="Segoe UI"/>
                <a:ea typeface="Segoe UI"/>
                <a:cs typeface="Segoe UI"/>
              </a:rPr>
              <a:t>→</a:t>
            </a:r>
          </a:p>
        </p:txBody>
      </p:sp>
      <p:sp>
        <p:nvSpPr>
          <p:cNvPr id="9" name="">
            <a:extLst xmlns:a="http://schemas.openxmlformats.org/drawingml/2006/main">
              <a:ext uri="{FF2B5EF4-FFF2-40B4-BE49-F238E27FC236}">
                <a16:creationId xmlns:a16="http://schemas.microsoft.com/office/drawing/2014/main" id="{8DBAAB41-8F8D-4BC6-9277-4B6F71DD1487}"/>
              </a:ext>
            </a:extLst>
          </p:cNvPr>
          <p:cNvSpPr>
            <a:spLocks xmlns:a="http://schemas.openxmlformats.org/drawingml/2006/main" noGrp="1"/>
          </p:cNvSpPr>
          <p:nvPr/>
        </p:nvSpPr>
        <p:spPr>
          <a:xfrm xmlns:a="http://schemas.openxmlformats.org/drawingml/2006/main">
            <a:off x="4400550" y="2066925"/>
            <a:ext cx="3476625" cy="1057275"/>
          </a:xfrm>
          <a:prstGeom xmlns:a="http://schemas.openxmlformats.org/drawingml/2006/main" prst="roundRect">
            <a:avLst>
              <a:gd name="adj" fmla="val 7207"/>
            </a:avLst>
          </a:prstGeom>
          <a:solidFill xmlns:a="http://schemas.openxmlformats.org/drawingml/2006/main">
            <a:srgbClr val="1C435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4274CAF-CFA3-4EE6-95B1-A0AFF2E53DDB}"/>
              </a:ext>
            </a:extLst>
          </p:cNvPr>
          <p:cNvSpPr>
            <a:spLocks xmlns:a="http://schemas.openxmlformats.org/drawingml/2006/main" noGrp="1"/>
          </p:cNvSpPr>
          <p:nvPr/>
        </p:nvSpPr>
        <p:spPr>
          <a:xfrm xmlns:a="http://schemas.openxmlformats.org/drawingml/2006/main">
            <a:off x="4543425" y="2209800"/>
            <a:ext cx="32099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FFFFF"/>
                </a:solidFill>
                <a:latin typeface="Segoe UI"/>
                <a:ea typeface="Segoe UI"/>
                <a:cs typeface="Segoe UI"/>
              </a:defRPr>
            </a:defPPr>
          </a:lstStyle>
          <a:p xmlns:a="http://schemas.openxmlformats.org/drawingml/2006/main">
            <a:pPr>
              <a:defRPr sz="2100" b="1">
                <a:solidFill>
                  <a:srgbClr val="FFFFFF"/>
                </a:solidFill>
                <a:latin typeface="Segoe UI"/>
                <a:ea typeface="Segoe UI"/>
                <a:cs typeface="Segoe UI"/>
              </a:defRPr>
            </a:pPr>
            <a:r>
              <a:rPr sz="2100" b="1">
                <a:solidFill>
                  <a:srgbClr val="FFFFFF"/>
                </a:solidFill>
                <a:latin typeface="Segoe UI"/>
                <a:ea typeface="Segoe UI"/>
                <a:cs typeface="Segoe UI"/>
              </a:rPr>
              <a:t>React + TypeScript</a:t>
            </a:r>
          </a:p>
        </p:txBody>
      </p:sp>
      <p:sp>
        <p:nvSpPr>
          <p:cNvPr id="11" name="">
            <a:extLst xmlns:a="http://schemas.openxmlformats.org/drawingml/2006/main">
              <a:ext uri="{FF2B5EF4-FFF2-40B4-BE49-F238E27FC236}">
                <a16:creationId xmlns:a16="http://schemas.microsoft.com/office/drawing/2014/main" id="{2C918236-04AC-4EFA-A5BE-BE9E6DF7CAB8}"/>
              </a:ext>
            </a:extLst>
          </p:cNvPr>
          <p:cNvSpPr>
            <a:spLocks xmlns:a="http://schemas.openxmlformats.org/drawingml/2006/main" noGrp="1"/>
          </p:cNvSpPr>
          <p:nvPr/>
        </p:nvSpPr>
        <p:spPr>
          <a:xfrm xmlns:a="http://schemas.openxmlformats.org/drawingml/2006/main">
            <a:off x="4543425" y="2676525"/>
            <a:ext cx="3209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ED5DB"/>
                </a:solidFill>
                <a:latin typeface="Segoe UI"/>
                <a:ea typeface="Segoe UI"/>
                <a:cs typeface="Segoe UI"/>
              </a:defRPr>
            </a:defPPr>
          </a:lstStyle>
          <a:p xmlns:a="http://schemas.openxmlformats.org/drawingml/2006/main">
            <a:pPr>
              <a:defRPr sz="1725" b="0">
                <a:solidFill>
                  <a:srgbClr val="BED5DB"/>
                </a:solidFill>
                <a:latin typeface="Segoe UI"/>
                <a:ea typeface="Segoe UI"/>
                <a:cs typeface="Segoe UI"/>
              </a:defRPr>
            </a:pPr>
            <a:r>
              <a:rPr sz="1725" b="0">
                <a:solidFill>
                  <a:srgbClr val="BED5DB"/>
                </a:solidFill>
                <a:latin typeface="Segoe UI"/>
                <a:ea typeface="Segoe UI"/>
                <a:cs typeface="Segoe UI"/>
              </a:rPr>
              <a:t>Profiles, lessons, reviews</a:t>
            </a:r>
          </a:p>
        </p:txBody>
      </p:sp>
      <p:sp>
        <p:nvSpPr>
          <p:cNvPr id="12" name="">
            <a:extLst xmlns:a="http://schemas.openxmlformats.org/drawingml/2006/main">
              <a:ext uri="{FF2B5EF4-FFF2-40B4-BE49-F238E27FC236}">
                <a16:creationId xmlns:a16="http://schemas.microsoft.com/office/drawing/2014/main" id="{0BC4B391-7448-43F4-A887-97D2E615D648}"/>
              </a:ext>
            </a:extLst>
          </p:cNvPr>
          <p:cNvSpPr>
            <a:spLocks xmlns:a="http://schemas.openxmlformats.org/drawingml/2006/main" noGrp="1"/>
          </p:cNvSpPr>
          <p:nvPr/>
        </p:nvSpPr>
        <p:spPr>
          <a:xfrm xmlns:a="http://schemas.openxmlformats.org/drawingml/2006/main">
            <a:off x="7877175" y="2352675"/>
            <a:ext cx="38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76D4BF"/>
                </a:solidFill>
                <a:latin typeface="Segoe UI"/>
                <a:ea typeface="Segoe UI"/>
                <a:cs typeface="Segoe UI"/>
              </a:defRPr>
            </a:defPPr>
          </a:lstStyle>
          <a:p xmlns:a="http://schemas.openxmlformats.org/drawingml/2006/main">
            <a:pPr>
              <a:defRPr sz="2250" b="0">
                <a:solidFill>
                  <a:srgbClr val="76D4BF"/>
                </a:solidFill>
                <a:latin typeface="Segoe UI"/>
                <a:ea typeface="Segoe UI"/>
                <a:cs typeface="Segoe UI"/>
              </a:defRPr>
            </a:pPr>
            <a:r>
              <a:rPr sz="2250" b="0">
                <a:solidFill>
                  <a:srgbClr val="76D4BF"/>
                </a:solidFill>
                <a:latin typeface="Segoe UI"/>
                <a:ea typeface="Segoe UI"/>
                <a:cs typeface="Segoe UI"/>
              </a:rPr>
              <a:t>→</a:t>
            </a:r>
          </a:p>
        </p:txBody>
      </p:sp>
      <p:sp>
        <p:nvSpPr>
          <p:cNvPr id="13" name="">
            <a:extLst xmlns:a="http://schemas.openxmlformats.org/drawingml/2006/main">
              <a:ext uri="{FF2B5EF4-FFF2-40B4-BE49-F238E27FC236}">
                <a16:creationId xmlns:a16="http://schemas.microsoft.com/office/drawing/2014/main" id="{07885AFA-CCBB-40D1-A4AC-E1F380600962}"/>
              </a:ext>
            </a:extLst>
          </p:cNvPr>
          <p:cNvSpPr>
            <a:spLocks xmlns:a="http://schemas.openxmlformats.org/drawingml/2006/main" noGrp="1"/>
          </p:cNvSpPr>
          <p:nvPr/>
        </p:nvSpPr>
        <p:spPr>
          <a:xfrm xmlns:a="http://schemas.openxmlformats.org/drawingml/2006/main">
            <a:off x="8210550" y="2066925"/>
            <a:ext cx="3476625" cy="1057275"/>
          </a:xfrm>
          <a:prstGeom xmlns:a="http://schemas.openxmlformats.org/drawingml/2006/main" prst="roundRect">
            <a:avLst>
              <a:gd name="adj" fmla="val 7207"/>
            </a:avLst>
          </a:prstGeom>
          <a:solidFill xmlns:a="http://schemas.openxmlformats.org/drawingml/2006/main">
            <a:srgbClr val="1C435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3537BCE-4C59-4A14-918B-ACE1AD557468}"/>
              </a:ext>
            </a:extLst>
          </p:cNvPr>
          <p:cNvSpPr>
            <a:spLocks xmlns:a="http://schemas.openxmlformats.org/drawingml/2006/main" noGrp="1"/>
          </p:cNvSpPr>
          <p:nvPr/>
        </p:nvSpPr>
        <p:spPr>
          <a:xfrm xmlns:a="http://schemas.openxmlformats.org/drawingml/2006/main">
            <a:off x="8353425" y="2209800"/>
            <a:ext cx="32099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FFFFF"/>
                </a:solidFill>
                <a:latin typeface="Segoe UI"/>
                <a:ea typeface="Segoe UI"/>
                <a:cs typeface="Segoe UI"/>
              </a:defRPr>
            </a:defPPr>
          </a:lstStyle>
          <a:p xmlns:a="http://schemas.openxmlformats.org/drawingml/2006/main">
            <a:pPr>
              <a:defRPr sz="2100" b="1">
                <a:solidFill>
                  <a:srgbClr val="FFFFFF"/>
                </a:solidFill>
                <a:latin typeface="Segoe UI"/>
                <a:ea typeface="Segoe UI"/>
                <a:cs typeface="Segoe UI"/>
              </a:defRPr>
            </a:pPr>
            <a:r>
              <a:rPr sz="2100" b="1">
                <a:solidFill>
                  <a:srgbClr val="FFFFFF"/>
                </a:solidFill>
                <a:latin typeface="Segoe UI"/>
                <a:ea typeface="Segoe UI"/>
                <a:cs typeface="Segoe UI"/>
              </a:rPr>
              <a:t>FastAPI + Pydantic</a:t>
            </a:r>
          </a:p>
        </p:txBody>
      </p:sp>
      <p:sp>
        <p:nvSpPr>
          <p:cNvPr id="15" name="">
            <a:extLst xmlns:a="http://schemas.openxmlformats.org/drawingml/2006/main">
              <a:ext uri="{FF2B5EF4-FFF2-40B4-BE49-F238E27FC236}">
                <a16:creationId xmlns:a16="http://schemas.microsoft.com/office/drawing/2014/main" id="{0D4EA173-8A54-46C0-9E7E-021E550E3C40}"/>
              </a:ext>
            </a:extLst>
          </p:cNvPr>
          <p:cNvSpPr>
            <a:spLocks xmlns:a="http://schemas.openxmlformats.org/drawingml/2006/main" noGrp="1"/>
          </p:cNvSpPr>
          <p:nvPr/>
        </p:nvSpPr>
        <p:spPr>
          <a:xfrm xmlns:a="http://schemas.openxmlformats.org/drawingml/2006/main">
            <a:off x="8353425" y="2676525"/>
            <a:ext cx="3209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ED5DB"/>
                </a:solidFill>
                <a:latin typeface="Segoe UI"/>
                <a:ea typeface="Segoe UI"/>
                <a:cs typeface="Segoe UI"/>
              </a:defRPr>
            </a:defPPr>
          </a:lstStyle>
          <a:p xmlns:a="http://schemas.openxmlformats.org/drawingml/2006/main">
            <a:pPr>
              <a:defRPr sz="1725" b="0">
                <a:solidFill>
                  <a:srgbClr val="BED5DB"/>
                </a:solidFill>
                <a:latin typeface="Segoe UI"/>
                <a:ea typeface="Segoe UI"/>
                <a:cs typeface="Segoe UI"/>
              </a:defRPr>
            </a:pPr>
            <a:r>
              <a:rPr sz="1725" b="0">
                <a:solidFill>
                  <a:srgbClr val="BED5DB"/>
                </a:solidFill>
                <a:latin typeface="Segoe UI"/>
                <a:ea typeface="Segoe UI"/>
                <a:cs typeface="Segoe UI"/>
              </a:rPr>
              <a:t>Validate and route requests</a:t>
            </a:r>
          </a:p>
        </p:txBody>
      </p:sp>
      <p:sp>
        <p:nvSpPr>
          <p:cNvPr id="16" name="">
            <a:extLst xmlns:a="http://schemas.openxmlformats.org/drawingml/2006/main">
              <a:ext uri="{FF2B5EF4-FFF2-40B4-BE49-F238E27FC236}">
                <a16:creationId xmlns:a16="http://schemas.microsoft.com/office/drawing/2014/main" id="{2B868A8A-7406-4875-A522-D97955D85ADD}"/>
              </a:ext>
            </a:extLst>
          </p:cNvPr>
          <p:cNvSpPr>
            <a:spLocks xmlns:a="http://schemas.openxmlformats.org/drawingml/2006/main" noGrp="1"/>
          </p:cNvSpPr>
          <p:nvPr/>
        </p:nvSpPr>
        <p:spPr>
          <a:xfrm xmlns:a="http://schemas.openxmlformats.org/drawingml/2006/main">
            <a:off x="590550" y="33432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76D4BF"/>
                </a:solidFill>
                <a:latin typeface="Segoe UI"/>
                <a:ea typeface="Segoe UI"/>
                <a:cs typeface="Segoe UI"/>
              </a:defRPr>
            </a:defPPr>
          </a:lstStyle>
          <a:p xmlns:a="http://schemas.openxmlformats.org/drawingml/2006/main">
            <a:pPr>
              <a:defRPr sz="2025" b="1">
                <a:solidFill>
                  <a:srgbClr val="76D4BF"/>
                </a:solidFill>
                <a:latin typeface="Segoe UI"/>
                <a:ea typeface="Segoe UI"/>
                <a:cs typeface="Segoe UI"/>
              </a:defRPr>
            </a:pPr>
            <a:r>
              <a:rPr sz="2025" b="1">
                <a:solidFill>
                  <a:srgbClr val="76D4BF"/>
                </a:solidFill>
                <a:latin typeface="Segoe UI"/>
                <a:ea typeface="Segoe UI"/>
                <a:cs typeface="Segoe UI"/>
              </a:rPr>
              <a:t>↓ Save responses and retrieve the learning context</a:t>
            </a:r>
          </a:p>
        </p:txBody>
      </p:sp>
      <p:sp>
        <p:nvSpPr>
          <p:cNvPr id="17" name="">
            <a:extLst xmlns:a="http://schemas.openxmlformats.org/drawingml/2006/main">
              <a:ext uri="{FF2B5EF4-FFF2-40B4-BE49-F238E27FC236}">
                <a16:creationId xmlns:a16="http://schemas.microsoft.com/office/drawing/2014/main" id="{19768DBD-73B2-4712-A9FD-5B6B659B5E0A}"/>
              </a:ext>
            </a:extLst>
          </p:cNvPr>
          <p:cNvSpPr>
            <a:spLocks xmlns:a="http://schemas.openxmlformats.org/drawingml/2006/main" noGrp="1"/>
          </p:cNvSpPr>
          <p:nvPr/>
        </p:nvSpPr>
        <p:spPr>
          <a:xfrm xmlns:a="http://schemas.openxmlformats.org/drawingml/2006/main">
            <a:off x="590550" y="3962400"/>
            <a:ext cx="3476625" cy="1152525"/>
          </a:xfrm>
          <a:prstGeom xmlns:a="http://schemas.openxmlformats.org/drawingml/2006/main" prst="roundRect">
            <a:avLst>
              <a:gd name="adj" fmla="val 6612"/>
            </a:avLst>
          </a:prstGeom>
          <a:solidFill xmlns:a="http://schemas.openxmlformats.org/drawingml/2006/main">
            <a:srgbClr val="1C435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2C7EB72-09D3-4270-BD16-FF24BC5909AF}"/>
              </a:ext>
            </a:extLst>
          </p:cNvPr>
          <p:cNvSpPr>
            <a:spLocks xmlns:a="http://schemas.openxmlformats.org/drawingml/2006/main" noGrp="1"/>
          </p:cNvSpPr>
          <p:nvPr/>
        </p:nvSpPr>
        <p:spPr>
          <a:xfrm xmlns:a="http://schemas.openxmlformats.org/drawingml/2006/main">
            <a:off x="733425" y="4114800"/>
            <a:ext cx="32099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FFFFF"/>
                </a:solidFill>
                <a:latin typeface="Segoe UI"/>
                <a:ea typeface="Segoe UI"/>
                <a:cs typeface="Segoe UI"/>
              </a:defRPr>
            </a:defPPr>
          </a:lstStyle>
          <a:p xmlns:a="http://schemas.openxmlformats.org/drawingml/2006/main">
            <a:pPr>
              <a:defRPr sz="2100" b="1">
                <a:solidFill>
                  <a:srgbClr val="FFFFFF"/>
                </a:solidFill>
                <a:latin typeface="Segoe UI"/>
                <a:ea typeface="Segoe UI"/>
                <a:cs typeface="Segoe UI"/>
              </a:defRPr>
            </a:pPr>
            <a:r>
              <a:rPr sz="2100" b="1">
                <a:solidFill>
                  <a:srgbClr val="FFFFFF"/>
                </a:solidFill>
                <a:latin typeface="Segoe UI"/>
                <a:ea typeface="Segoe UI"/>
                <a:cs typeface="Segoe UI"/>
              </a:rPr>
              <a:t>SQLite evidence</a:t>
            </a:r>
          </a:p>
        </p:txBody>
      </p:sp>
      <p:sp>
        <p:nvSpPr>
          <p:cNvPr id="19" name="">
            <a:extLst xmlns:a="http://schemas.openxmlformats.org/drawingml/2006/main">
              <a:ext uri="{FF2B5EF4-FFF2-40B4-BE49-F238E27FC236}">
                <a16:creationId xmlns:a16="http://schemas.microsoft.com/office/drawing/2014/main" id="{F4075F50-1B65-40DF-A3A0-B8D597C1255E}"/>
              </a:ext>
            </a:extLst>
          </p:cNvPr>
          <p:cNvSpPr>
            <a:spLocks xmlns:a="http://schemas.openxmlformats.org/drawingml/2006/main" noGrp="1"/>
          </p:cNvSpPr>
          <p:nvPr/>
        </p:nvSpPr>
        <p:spPr>
          <a:xfrm xmlns:a="http://schemas.openxmlformats.org/drawingml/2006/main">
            <a:off x="733425" y="4562475"/>
            <a:ext cx="3209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ED5DB"/>
                </a:solidFill>
                <a:latin typeface="Segoe UI"/>
                <a:ea typeface="Segoe UI"/>
                <a:cs typeface="Segoe UI"/>
              </a:defRPr>
            </a:defPPr>
          </a:lstStyle>
          <a:p xmlns:a="http://schemas.openxmlformats.org/drawingml/2006/main">
            <a:pPr>
              <a:defRPr sz="1650" b="0">
                <a:solidFill>
                  <a:srgbClr val="BED5DB"/>
                </a:solidFill>
                <a:latin typeface="Segoe UI"/>
                <a:ea typeface="Segoe UI"/>
                <a:cs typeface="Segoe UI"/>
              </a:defRPr>
            </a:pPr>
            <a:r>
              <a:rPr sz="1650" b="0">
                <a:solidFill>
                  <a:srgbClr val="BED5DB"/>
                </a:solidFill>
                <a:latin typeface="Segoe UI"/>
                <a:ea typeface="Segoe UI"/>
                <a:cs typeface="Segoe UI"/>
              </a:rPr>
              <a:t>Responses, progress, mentor queue</a:t>
            </a:r>
          </a:p>
        </p:txBody>
      </p:sp>
      <p:sp>
        <p:nvSpPr>
          <p:cNvPr id="20" name="">
            <a:extLst xmlns:a="http://schemas.openxmlformats.org/drawingml/2006/main">
              <a:ext uri="{FF2B5EF4-FFF2-40B4-BE49-F238E27FC236}">
                <a16:creationId xmlns:a16="http://schemas.microsoft.com/office/drawing/2014/main" id="{4D5CDF3F-A1C7-4B82-97F2-771C61C96819}"/>
              </a:ext>
            </a:extLst>
          </p:cNvPr>
          <p:cNvSpPr>
            <a:spLocks xmlns:a="http://schemas.openxmlformats.org/drawingml/2006/main" noGrp="1"/>
          </p:cNvSpPr>
          <p:nvPr/>
        </p:nvSpPr>
        <p:spPr>
          <a:xfrm xmlns:a="http://schemas.openxmlformats.org/drawingml/2006/main">
            <a:off x="4400550" y="3962400"/>
            <a:ext cx="3476625" cy="1152525"/>
          </a:xfrm>
          <a:prstGeom xmlns:a="http://schemas.openxmlformats.org/drawingml/2006/main" prst="roundRect">
            <a:avLst>
              <a:gd name="adj" fmla="val 6612"/>
            </a:avLst>
          </a:prstGeom>
          <a:solidFill xmlns:a="http://schemas.openxmlformats.org/drawingml/2006/main">
            <a:srgbClr val="1C4350"/>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DACE6F7-05CD-41E5-AA3A-BA9756CFC7E0}"/>
              </a:ext>
            </a:extLst>
          </p:cNvPr>
          <p:cNvSpPr>
            <a:spLocks xmlns:a="http://schemas.openxmlformats.org/drawingml/2006/main" noGrp="1"/>
          </p:cNvSpPr>
          <p:nvPr/>
        </p:nvSpPr>
        <p:spPr>
          <a:xfrm xmlns:a="http://schemas.openxmlformats.org/drawingml/2006/main">
            <a:off x="4543425" y="4114800"/>
            <a:ext cx="32099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FFFFF"/>
                </a:solidFill>
                <a:latin typeface="Segoe UI"/>
                <a:ea typeface="Segoe UI"/>
                <a:cs typeface="Segoe UI"/>
              </a:defRPr>
            </a:defPPr>
          </a:lstStyle>
          <a:p xmlns:a="http://schemas.openxmlformats.org/drawingml/2006/main">
            <a:pPr>
              <a:defRPr sz="2100" b="1">
                <a:solidFill>
                  <a:srgbClr val="FFFFFF"/>
                </a:solidFill>
                <a:latin typeface="Segoe UI"/>
                <a:ea typeface="Segoe UI"/>
                <a:cs typeface="Segoe UI"/>
              </a:defRPr>
            </a:pPr>
            <a:r>
              <a:rPr sz="2100" b="1">
                <a:solidFill>
                  <a:srgbClr val="FFFFFF"/>
                </a:solidFill>
                <a:latin typeface="Segoe UI"/>
                <a:ea typeface="Segoe UI"/>
                <a:cs typeface="Segoe UI"/>
              </a:rPr>
              <a:t>Transparent rules</a:t>
            </a:r>
          </a:p>
        </p:txBody>
      </p:sp>
      <p:sp>
        <p:nvSpPr>
          <p:cNvPr id="22" name="">
            <a:extLst xmlns:a="http://schemas.openxmlformats.org/drawingml/2006/main">
              <a:ext uri="{FF2B5EF4-FFF2-40B4-BE49-F238E27FC236}">
                <a16:creationId xmlns:a16="http://schemas.microsoft.com/office/drawing/2014/main" id="{4AE6708C-EEBD-4DD9-8BBA-BCB99D706CAF}"/>
              </a:ext>
            </a:extLst>
          </p:cNvPr>
          <p:cNvSpPr>
            <a:spLocks xmlns:a="http://schemas.openxmlformats.org/drawingml/2006/main" noGrp="1"/>
          </p:cNvSpPr>
          <p:nvPr/>
        </p:nvSpPr>
        <p:spPr>
          <a:xfrm xmlns:a="http://schemas.openxmlformats.org/drawingml/2006/main">
            <a:off x="4543425" y="4562475"/>
            <a:ext cx="3209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ED5DB"/>
                </a:solidFill>
                <a:latin typeface="Segoe UI"/>
                <a:ea typeface="Segoe UI"/>
                <a:cs typeface="Segoe UI"/>
              </a:defRPr>
            </a:defPPr>
          </a:lstStyle>
          <a:p xmlns:a="http://schemas.openxmlformats.org/drawingml/2006/main">
            <a:pPr>
              <a:defRPr sz="1650" b="0">
                <a:solidFill>
                  <a:srgbClr val="BED5DB"/>
                </a:solidFill>
                <a:latin typeface="Segoe UI"/>
                <a:ea typeface="Segoe UI"/>
                <a:cs typeface="Segoe UI"/>
              </a:defRPr>
            </a:pPr>
            <a:r>
              <a:rPr sz="1650" b="0">
                <a:solidFill>
                  <a:srgbClr val="BED5DB"/>
                </a:solidFill>
                <a:latin typeface="Segoe UI"/>
                <a:ea typeface="Segoe UI"/>
                <a:cs typeface="Segoe UI"/>
              </a:rPr>
              <a:t>Concept priority + answer checking</a:t>
            </a:r>
          </a:p>
        </p:txBody>
      </p:sp>
      <p:sp>
        <p:nvSpPr>
          <p:cNvPr id="23" name="">
            <a:extLst xmlns:a="http://schemas.openxmlformats.org/drawingml/2006/main">
              <a:ext uri="{FF2B5EF4-FFF2-40B4-BE49-F238E27FC236}">
                <a16:creationId xmlns:a16="http://schemas.microsoft.com/office/drawing/2014/main" id="{A151D0F1-620F-420E-ACBC-A1F642833168}"/>
              </a:ext>
            </a:extLst>
          </p:cNvPr>
          <p:cNvSpPr>
            <a:spLocks xmlns:a="http://schemas.openxmlformats.org/drawingml/2006/main" noGrp="1"/>
          </p:cNvSpPr>
          <p:nvPr/>
        </p:nvSpPr>
        <p:spPr>
          <a:xfrm xmlns:a="http://schemas.openxmlformats.org/drawingml/2006/main">
            <a:off x="8210550" y="3962400"/>
            <a:ext cx="3476625" cy="1152525"/>
          </a:xfrm>
          <a:prstGeom xmlns:a="http://schemas.openxmlformats.org/drawingml/2006/main" prst="roundRect">
            <a:avLst>
              <a:gd name="adj" fmla="val 6612"/>
            </a:avLst>
          </a:prstGeom>
          <a:solidFill xmlns:a="http://schemas.openxmlformats.org/drawingml/2006/main">
            <a:srgbClr val="1C435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EFDD88D-3FFC-4152-AD24-FC01939B7DA0}"/>
              </a:ext>
            </a:extLst>
          </p:cNvPr>
          <p:cNvSpPr>
            <a:spLocks xmlns:a="http://schemas.openxmlformats.org/drawingml/2006/main" noGrp="1"/>
          </p:cNvSpPr>
          <p:nvPr/>
        </p:nvSpPr>
        <p:spPr>
          <a:xfrm xmlns:a="http://schemas.openxmlformats.org/drawingml/2006/main">
            <a:off x="8353425" y="4114800"/>
            <a:ext cx="32099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FFFFFF"/>
                </a:solidFill>
                <a:latin typeface="Segoe UI"/>
                <a:ea typeface="Segoe UI"/>
                <a:cs typeface="Segoe UI"/>
              </a:defRPr>
            </a:defPPr>
          </a:lstStyle>
          <a:p xmlns:a="http://schemas.openxmlformats.org/drawingml/2006/main">
            <a:pPr>
              <a:defRPr sz="2100" b="1">
                <a:solidFill>
                  <a:srgbClr val="FFFFFF"/>
                </a:solidFill>
                <a:latin typeface="Segoe UI"/>
                <a:ea typeface="Segoe UI"/>
                <a:cs typeface="Segoe UI"/>
              </a:defRPr>
            </a:pPr>
            <a:r>
              <a:rPr sz="2100" b="1">
                <a:solidFill>
                  <a:srgbClr val="FFFFFF"/>
                </a:solidFill>
                <a:latin typeface="Segoe UI"/>
                <a:ea typeface="Segoe UI"/>
                <a:cs typeface="Segoe UI"/>
              </a:rPr>
              <a:t>AI explanation service</a:t>
            </a:r>
          </a:p>
        </p:txBody>
      </p:sp>
      <p:sp>
        <p:nvSpPr>
          <p:cNvPr id="25" name="">
            <a:extLst xmlns:a="http://schemas.openxmlformats.org/drawingml/2006/main">
              <a:ext uri="{FF2B5EF4-FFF2-40B4-BE49-F238E27FC236}">
                <a16:creationId xmlns:a16="http://schemas.microsoft.com/office/drawing/2014/main" id="{825BE969-FEFD-444E-ABEB-11E2D0826803}"/>
              </a:ext>
            </a:extLst>
          </p:cNvPr>
          <p:cNvSpPr>
            <a:spLocks xmlns:a="http://schemas.openxmlformats.org/drawingml/2006/main" noGrp="1"/>
          </p:cNvSpPr>
          <p:nvPr/>
        </p:nvSpPr>
        <p:spPr>
          <a:xfrm xmlns:a="http://schemas.openxmlformats.org/drawingml/2006/main">
            <a:off x="8353425" y="4562475"/>
            <a:ext cx="32099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ED5DB"/>
                </a:solidFill>
                <a:latin typeface="Segoe UI"/>
                <a:ea typeface="Segoe UI"/>
                <a:cs typeface="Segoe UI"/>
              </a:defRPr>
            </a:defPPr>
          </a:lstStyle>
          <a:p xmlns:a="http://schemas.openxmlformats.org/drawingml/2006/main">
            <a:pPr>
              <a:defRPr sz="1650" b="0">
                <a:solidFill>
                  <a:srgbClr val="BED5DB"/>
                </a:solidFill>
                <a:latin typeface="Segoe UI"/>
                <a:ea typeface="Segoe UI"/>
                <a:cs typeface="Segoe UI"/>
              </a:defRPr>
            </a:pPr>
            <a:r>
              <a:rPr sz="1650" b="0">
                <a:solidFill>
                  <a:srgbClr val="BED5DB"/>
                </a:solidFill>
                <a:latin typeface="Segoe UI"/>
                <a:ea typeface="Segoe UI"/>
                <a:cs typeface="Segoe UI"/>
              </a:rPr>
              <a:t>Approved lesson + concept → Gemini</a:t>
            </a:r>
          </a:p>
        </p:txBody>
      </p:sp>
      <p:sp>
        <p:nvSpPr>
          <p:cNvPr id="26" name="">
            <a:extLst xmlns:a="http://schemas.openxmlformats.org/drawingml/2006/main">
              <a:ext uri="{FF2B5EF4-FFF2-40B4-BE49-F238E27FC236}">
                <a16:creationId xmlns:a16="http://schemas.microsoft.com/office/drawing/2014/main" id="{3447FBB3-2180-4F05-A59F-30B2BE83D9D7}"/>
              </a:ext>
            </a:extLst>
          </p:cNvPr>
          <p:cNvSpPr>
            <a:spLocks xmlns:a="http://schemas.openxmlformats.org/drawingml/2006/main" noGrp="1"/>
          </p:cNvSpPr>
          <p:nvPr/>
        </p:nvSpPr>
        <p:spPr>
          <a:xfrm xmlns:a="http://schemas.openxmlformats.org/drawingml/2006/main">
            <a:off x="590550" y="5400675"/>
            <a:ext cx="109537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76D4BF"/>
                </a:solidFill>
                <a:latin typeface="Segoe UI"/>
                <a:ea typeface="Segoe UI"/>
                <a:cs typeface="Segoe UI"/>
              </a:defRPr>
            </a:defPPr>
          </a:lstStyle>
          <a:p xmlns:a="http://schemas.openxmlformats.org/drawingml/2006/main">
            <a:pPr>
              <a:defRPr sz="2100" b="1">
                <a:solidFill>
                  <a:srgbClr val="76D4BF"/>
                </a:solidFill>
                <a:latin typeface="Segoe UI"/>
                <a:ea typeface="Segoe UI"/>
                <a:cs typeface="Segoe UI"/>
              </a:defRPr>
            </a:pPr>
            <a:r>
              <a:rPr sz="2100" b="1">
                <a:solidFill>
                  <a:srgbClr val="76D4BF"/>
                </a:solidFill>
                <a:latin typeface="Segoe UI"/>
                <a:ea typeface="Segoe UI"/>
                <a:cs typeface="Segoe UI"/>
              </a:rPr>
              <a:t>Validated explanation → practice → independent retest → faculty follow-up</a:t>
            </a:r>
          </a:p>
        </p:txBody>
      </p:sp>
    </p:spTree>
    <p:extLst>
      <p:ext uri="{BB962C8B-B14F-4D97-AF65-F5344CB8AC3E}">
        <p14:creationId xmlns:p14="http://schemas.microsoft.com/office/powerpoint/2010/main" val="2070688672"/>
      </p:ext>
    </p:extLst>
  </p:cSld>
</p:sld>
</file>

<file path=ppt/slides/slide11.xml><?xml version="1.0" encoding="utf-8"?>
<p:sld xmlns:p="http://schemas.openxmlformats.org/presentationml/2006/main">
  <p:cSld>
    <p:bg>
      <p:bgPr>
        <a:solidFill xmlns:a="http://schemas.openxmlformats.org/drawingml/2006/main">
          <a:srgbClr val="102D3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60C5E69-6509-4B6F-8EAC-8AAAE1564C9B}"/>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65D280-A961-4E39-B20B-D4FB8555BDE6}"/>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FFFFF"/>
                </a:solidFill>
                <a:latin typeface="Segoe UI"/>
                <a:ea typeface="Segoe UI"/>
                <a:cs typeface="Segoe UI"/>
              </a:defRPr>
            </a:defPPr>
          </a:lstStyle>
          <a:p xmlns:a="http://schemas.openxmlformats.org/drawingml/2006/main">
            <a:pPr>
              <a:defRPr sz="3825" b="1">
                <a:solidFill>
                  <a:srgbClr val="FFFFFF"/>
                </a:solidFill>
                <a:latin typeface="Segoe UI"/>
                <a:ea typeface="Segoe UI"/>
                <a:cs typeface="Segoe UI"/>
              </a:defRPr>
            </a:pPr>
            <a:r>
              <a:rPr sz="3825" b="1">
                <a:solidFill>
                  <a:srgbClr val="FFFFFF"/>
                </a:solidFill>
                <a:latin typeface="Segoe UI"/>
                <a:ea typeface="Segoe UI"/>
                <a:cs typeface="Segoe UI"/>
              </a:rPr>
              <a:t>A clear next action for faculty</a:t>
            </a:r>
          </a:p>
        </p:txBody>
      </p:sp>
      <p:sp>
        <p:nvSpPr>
          <p:cNvPr id="3" name="">
            <a:extLst xmlns:a="http://schemas.openxmlformats.org/drawingml/2006/main">
              <a:ext uri="{FF2B5EF4-FFF2-40B4-BE49-F238E27FC236}">
                <a16:creationId xmlns:a16="http://schemas.microsoft.com/office/drawing/2014/main" id="{93FB3D64-C83A-4773-89E1-1DCC6648A0CE}"/>
              </a:ext>
            </a:extLst>
          </p:cNvPr>
          <p:cNvSpPr>
            <a:spLocks xmlns:a="http://schemas.openxmlformats.org/drawingml/2006/main" noGrp="1"/>
          </p:cNvSpPr>
          <p:nvPr/>
        </p:nvSpPr>
        <p:spPr>
          <a:xfrm xmlns:a="http://schemas.openxmlformats.org/drawingml/2006/main">
            <a:off x="590550" y="63436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9EC2CB"/>
                </a:solidFill>
                <a:latin typeface="Segoe UI"/>
                <a:ea typeface="Segoe UI"/>
                <a:cs typeface="Segoe UI"/>
              </a:defRPr>
            </a:defPPr>
          </a:lstStyle>
          <a:p xmlns:a="http://schemas.openxmlformats.org/drawingml/2006/main">
            <a:pPr>
              <a:defRPr sz="1350" b="1">
                <a:solidFill>
                  <a:srgbClr val="9EC2CB"/>
                </a:solidFill>
                <a:latin typeface="Segoe UI"/>
                <a:ea typeface="Segoe UI"/>
                <a:cs typeface="Segoe UI"/>
              </a:defRPr>
            </a:pPr>
            <a:r>
              <a:rPr sz="1350" b="1">
                <a:solidFill>
                  <a:srgbClr val="9EC2CB"/>
                </a:solidFill>
                <a:latin typeface="Segoe UI"/>
                <a:ea typeface="Segoe UI"/>
                <a:cs typeface="Segoe UI"/>
              </a:rPr>
              <a:t>EduPulse</a:t>
            </a:r>
          </a:p>
        </p:txBody>
      </p:sp>
      <p:sp>
        <p:nvSpPr>
          <p:cNvPr id="4" name="">
            <a:extLst xmlns:a="http://schemas.openxmlformats.org/drawingml/2006/main">
              <a:ext uri="{FF2B5EF4-FFF2-40B4-BE49-F238E27FC236}">
                <a16:creationId xmlns:a16="http://schemas.microsoft.com/office/drawing/2014/main" id="{66BF3270-E30B-476B-AD47-4CAAE9DC2096}"/>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9EC2CB"/>
                </a:solidFill>
                <a:latin typeface="Segoe UI"/>
                <a:ea typeface="Segoe UI"/>
                <a:cs typeface="Segoe UI"/>
              </a:defRPr>
            </a:defPPr>
          </a:lstStyle>
          <a:p xmlns:a="http://schemas.openxmlformats.org/drawingml/2006/main">
            <a:pPr>
              <a:defRPr sz="1350" b="0">
                <a:solidFill>
                  <a:srgbClr val="9EC2CB"/>
                </a:solidFill>
                <a:latin typeface="Segoe UI"/>
                <a:ea typeface="Segoe UI"/>
                <a:cs typeface="Segoe UI"/>
              </a:defRPr>
            </a:pPr>
            <a:r>
              <a:rPr sz="1350" b="0">
                <a:solidFill>
                  <a:srgbClr val="9EC2CB"/>
                </a:solidFill>
                <a:latin typeface="Segoe UI"/>
                <a:ea typeface="Segoe UI"/>
                <a:cs typeface="Segoe UI"/>
              </a:rPr>
              <a:t>11</a:t>
            </a:r>
          </a:p>
        </p:txBody>
      </p:sp>
      <p:sp>
        <p:nvSpPr>
          <p:cNvPr id="5" name="">
            <a:extLst xmlns:a="http://schemas.openxmlformats.org/drawingml/2006/main">
              <a:ext uri="{FF2B5EF4-FFF2-40B4-BE49-F238E27FC236}">
                <a16:creationId xmlns:a16="http://schemas.microsoft.com/office/drawing/2014/main" id="{4E96B466-02C8-40D0-9C25-D11380AD551B}"/>
              </a:ext>
            </a:extLst>
          </p:cNvPr>
          <p:cNvSpPr>
            <a:spLocks xmlns:a="http://schemas.openxmlformats.org/drawingml/2006/main" noGrp="1"/>
          </p:cNvSpPr>
          <p:nvPr/>
        </p:nvSpPr>
        <p:spPr>
          <a:xfrm xmlns:a="http://schemas.openxmlformats.org/drawingml/2006/main">
            <a:off x="590550" y="2276475"/>
            <a:ext cx="10953750" cy="1514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FFFFFF"/>
                </a:solidFill>
                <a:latin typeface="Segoe UI"/>
                <a:ea typeface="Segoe UI"/>
                <a:cs typeface="Segoe UI"/>
              </a:defRPr>
            </a:defPPr>
          </a:lstStyle>
          <a:p xmlns:a="http://schemas.openxmlformats.org/drawingml/2006/main">
            <a:pPr>
              <a:defRPr sz="4200" b="1">
                <a:solidFill>
                  <a:srgbClr val="FFFFFF"/>
                </a:solidFill>
                <a:latin typeface="Segoe UI"/>
                <a:ea typeface="Segoe UI"/>
                <a:cs typeface="Segoe UI"/>
              </a:defRPr>
            </a:pPr>
            <a:r>
              <a:rPr sz="4200" b="1">
                <a:solidFill>
                  <a:srgbClr val="FFFFFF"/>
                </a:solidFill>
                <a:latin typeface="Segoe UI"/>
                <a:ea typeface="Segoe UI"/>
                <a:cs typeface="Segoe UI"/>
              </a:rPr>
              <a:t>Who needs help with what,</a:t>
            </a:r>
          </a:p>
          <a:p xmlns:a="http://schemas.openxmlformats.org/drawingml/2006/main">
            <a:pPr>
              <a:defRPr sz="4200" b="1">
                <a:solidFill>
                  <a:srgbClr val="FFFFFF"/>
                </a:solidFill>
                <a:latin typeface="Segoe UI"/>
                <a:ea typeface="Segoe UI"/>
                <a:cs typeface="Segoe UI"/>
              </a:defRPr>
            </a:pPr>
            <a:r>
              <a:rPr sz="4200" b="1">
                <a:solidFill>
                  <a:srgbClr val="FFFFFF"/>
                </a:solidFill>
                <a:latin typeface="Segoe UI"/>
                <a:ea typeface="Segoe UI"/>
                <a:cs typeface="Segoe UI"/>
              </a:rPr>
              <a:t>and what should we do next?</a:t>
            </a:r>
          </a:p>
        </p:txBody>
      </p:sp>
      <p:sp>
        <p:nvSpPr>
          <p:cNvPr id="6" name="">
            <a:extLst xmlns:a="http://schemas.openxmlformats.org/drawingml/2006/main">
              <a:ext uri="{FF2B5EF4-FFF2-40B4-BE49-F238E27FC236}">
                <a16:creationId xmlns:a16="http://schemas.microsoft.com/office/drawing/2014/main" id="{AE163CE3-8399-4D5E-AC8C-B9A254DB4A58}"/>
              </a:ext>
            </a:extLst>
          </p:cNvPr>
          <p:cNvSpPr>
            <a:spLocks xmlns:a="http://schemas.openxmlformats.org/drawingml/2006/main" noGrp="1"/>
          </p:cNvSpPr>
          <p:nvPr/>
        </p:nvSpPr>
        <p:spPr>
          <a:xfrm xmlns:a="http://schemas.openxmlformats.org/drawingml/2006/main">
            <a:off x="590550" y="433387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76D4BF"/>
                </a:solidFill>
                <a:latin typeface="Segoe UI"/>
                <a:ea typeface="Segoe UI"/>
                <a:cs typeface="Segoe UI"/>
              </a:defRPr>
            </a:defPPr>
          </a:lstStyle>
          <a:p xmlns:a="http://schemas.openxmlformats.org/drawingml/2006/main">
            <a:pPr>
              <a:defRPr sz="2325" b="0">
                <a:solidFill>
                  <a:srgbClr val="76D4BF"/>
                </a:solidFill>
                <a:latin typeface="Segoe UI"/>
                <a:ea typeface="Segoe UI"/>
                <a:cs typeface="Segoe UI"/>
              </a:defRPr>
            </a:pPr>
            <a:r>
              <a:rPr sz="2325" b="0">
                <a:solidFill>
                  <a:srgbClr val="76D4BF"/>
                </a:solidFill>
                <a:latin typeface="Segoe UI"/>
                <a:ea typeface="Segoe UI"/>
                <a:cs typeface="Segoe UI"/>
              </a:rPr>
              <a:t>Concept evidence  •  Focused support  •  Saved outcomes</a:t>
            </a:r>
          </a:p>
        </p:txBody>
      </p:sp>
      <p:sp>
        <p:nvSpPr>
          <p:cNvPr id="7" name="">
            <a:extLst xmlns:a="http://schemas.openxmlformats.org/drawingml/2006/main">
              <a:ext uri="{FF2B5EF4-FFF2-40B4-BE49-F238E27FC236}">
                <a16:creationId xmlns:a16="http://schemas.microsoft.com/office/drawing/2014/main" id="{54AB4B21-A2FE-4487-BA0A-C79502F1A004}"/>
              </a:ext>
            </a:extLst>
          </p:cNvPr>
          <p:cNvSpPr>
            <a:spLocks xmlns:a="http://schemas.openxmlformats.org/drawingml/2006/main" noGrp="1"/>
          </p:cNvSpPr>
          <p:nvPr/>
        </p:nvSpPr>
        <p:spPr>
          <a:xfrm xmlns:a="http://schemas.openxmlformats.org/drawingml/2006/main">
            <a:off x="590550" y="5334000"/>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BED5DB"/>
                </a:solidFill>
                <a:latin typeface="Segoe UI"/>
                <a:ea typeface="Segoe UI"/>
                <a:cs typeface="Segoe UI"/>
              </a:defRPr>
            </a:defPPr>
          </a:lstStyle>
          <a:p xmlns:a="http://schemas.openxmlformats.org/drawingml/2006/main">
            <a:pPr>
              <a:defRPr sz="2175" b="0">
                <a:solidFill>
                  <a:srgbClr val="BED5DB"/>
                </a:solidFill>
                <a:latin typeface="Segoe UI"/>
                <a:ea typeface="Segoe UI"/>
                <a:cs typeface="Segoe UI"/>
              </a:defRPr>
            </a:pPr>
            <a:r>
              <a:rPr sz="2175" b="0">
                <a:solidFill>
                  <a:srgbClr val="BED5DB"/>
                </a:solidFill>
                <a:latin typeface="Segoe UI"/>
                <a:ea typeface="Segoe UI"/>
                <a:cs typeface="Segoe UI"/>
              </a:rPr>
              <a:t>Next: faculty review, a supervised classroom pilot,</a:t>
            </a:r>
          </a:p>
          <a:p xmlns:a="http://schemas.openxmlformats.org/drawingml/2006/main">
            <a:pPr>
              <a:defRPr sz="2175" b="0">
                <a:solidFill>
                  <a:srgbClr val="BED5DB"/>
                </a:solidFill>
                <a:latin typeface="Segoe UI"/>
                <a:ea typeface="Segoe UI"/>
                <a:cs typeface="Segoe UI"/>
              </a:defRPr>
            </a:pPr>
            <a:r>
              <a:rPr sz="2175" b="0">
                <a:solidFill>
                  <a:srgbClr val="BED5DB"/>
                </a:solidFill>
                <a:latin typeface="Segoe UI"/>
                <a:ea typeface="Segoe UI"/>
                <a:cs typeface="Segoe UI"/>
              </a:rPr>
              <a:t>and delayed learning assessment.</a:t>
            </a:r>
          </a:p>
        </p:txBody>
      </p:sp>
    </p:spTree>
    <p:extLst>
      <p:ext uri="{BB962C8B-B14F-4D97-AF65-F5344CB8AC3E}">
        <p14:creationId xmlns:p14="http://schemas.microsoft.com/office/powerpoint/2010/main" val="2048994197"/>
      </p:ext>
    </p:extLst>
  </p:cSld>
</p:sld>
</file>

<file path=ppt/slides/slide12.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AD145A1-DC38-421C-B559-CABD8FBAC068}"/>
              </a:ext>
            </a:extLst>
          </p:cNvPr>
          <p:cNvSpPr>
            <a:spLocks xmlns:a="http://schemas.openxmlformats.org/drawingml/2006/main" noGrp="1"/>
          </p:cNvSpPr>
          <p:nvPr/>
        </p:nvSpPr>
        <p:spPr>
          <a:xfrm xmlns:a="http://schemas.openxmlformats.org/drawingml/2006/main">
            <a:off x="590550" y="514350"/>
            <a:ext cx="457200" cy="57150"/>
          </a:xfrm>
          <a:prstGeom xmlns:a="http://schemas.openxmlformats.org/drawingml/2006/main" prst="rect">
            <a:avLst/>
          </a:prstGeom>
          <a:solidFill xmlns:a="http://schemas.openxmlformats.org/drawingml/2006/main">
            <a:srgbClr val="007E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D00080-ADEF-4C5D-ADB4-32AC4DEF2EEB}"/>
              </a:ext>
            </a:extLst>
          </p:cNvPr>
          <p:cNvSpPr>
            <a:spLocks xmlns:a="http://schemas.openxmlformats.org/drawingml/2006/main" noGrp="1"/>
          </p:cNvSpPr>
          <p:nvPr/>
        </p:nvSpPr>
        <p:spPr>
          <a:xfrm xmlns:a="http://schemas.openxmlformats.org/drawingml/2006/main">
            <a:off x="590550" y="838200"/>
            <a:ext cx="10953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193846"/>
                </a:solidFill>
                <a:latin typeface="Segoe UI"/>
                <a:ea typeface="Segoe UI"/>
                <a:cs typeface="Segoe UI"/>
              </a:defRPr>
            </a:defPPr>
          </a:lstStyle>
          <a:p xmlns:a="http://schemas.openxmlformats.org/drawingml/2006/main">
            <a:pPr>
              <a:defRPr sz="3675" b="1">
                <a:solidFill>
                  <a:srgbClr val="193846"/>
                </a:solidFill>
                <a:latin typeface="Segoe UI"/>
                <a:ea typeface="Segoe UI"/>
                <a:cs typeface="Segoe UI"/>
              </a:defRPr>
            </a:pPr>
            <a:r>
              <a:rPr sz="3675" b="1">
                <a:solidFill>
                  <a:srgbClr val="193846"/>
                </a:solidFill>
                <a:latin typeface="Segoe UI"/>
                <a:ea typeface="Segoe UI"/>
                <a:cs typeface="Segoe UI"/>
              </a:rPr>
              <a:t>From classroom workflow to deployment</a:t>
            </a:r>
          </a:p>
        </p:txBody>
      </p:sp>
      <p:sp>
        <p:nvSpPr>
          <p:cNvPr id="3" name="">
            <a:extLst xmlns:a="http://schemas.openxmlformats.org/drawingml/2006/main">
              <a:ext uri="{FF2B5EF4-FFF2-40B4-BE49-F238E27FC236}">
                <a16:creationId xmlns:a16="http://schemas.microsoft.com/office/drawing/2014/main" id="{36FCE9EC-630D-4FC7-965A-835461A101D9}"/>
              </a:ext>
            </a:extLst>
          </p:cNvPr>
          <p:cNvSpPr>
            <a:spLocks xmlns:a="http://schemas.openxmlformats.org/drawingml/2006/main" noGrp="1"/>
          </p:cNvSpPr>
          <p:nvPr/>
        </p:nvSpPr>
        <p:spPr>
          <a:xfrm xmlns:a="http://schemas.openxmlformats.org/drawingml/2006/main">
            <a:off x="590550" y="2219325"/>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007E77"/>
                </a:solidFill>
                <a:latin typeface="Segoe UI"/>
                <a:ea typeface="Segoe UI"/>
                <a:cs typeface="Segoe UI"/>
              </a:defRPr>
            </a:defPPr>
          </a:lstStyle>
          <a:p xmlns:a="http://schemas.openxmlformats.org/drawingml/2006/main">
            <a:pPr>
              <a:defRPr sz="2475" b="1">
                <a:solidFill>
                  <a:srgbClr val="007E77"/>
                </a:solidFill>
                <a:latin typeface="Segoe UI"/>
                <a:ea typeface="Segoe UI"/>
                <a:cs typeface="Segoe UI"/>
              </a:defRPr>
            </a:pPr>
            <a:r>
              <a:rPr sz="2475" b="1">
                <a:solidFill>
                  <a:srgbClr val="007E77"/>
                </a:solidFill>
                <a:latin typeface="Segoe UI"/>
                <a:ea typeface="Segoe UI"/>
                <a:cs typeface="Segoe UI"/>
              </a:rPr>
              <a:t>Student journey</a:t>
            </a:r>
          </a:p>
        </p:txBody>
      </p:sp>
      <p:sp>
        <p:nvSpPr>
          <p:cNvPr id="4" name="">
            <a:extLst xmlns:a="http://schemas.openxmlformats.org/drawingml/2006/main">
              <a:ext uri="{FF2B5EF4-FFF2-40B4-BE49-F238E27FC236}">
                <a16:creationId xmlns:a16="http://schemas.microsoft.com/office/drawing/2014/main" id="{DA447D18-F785-41FC-AC57-A66297310561}"/>
              </a:ext>
            </a:extLst>
          </p:cNvPr>
          <p:cNvSpPr>
            <a:spLocks xmlns:a="http://schemas.openxmlformats.org/drawingml/2006/main" noGrp="1"/>
          </p:cNvSpPr>
          <p:nvPr/>
        </p:nvSpPr>
        <p:spPr>
          <a:xfrm xmlns:a="http://schemas.openxmlformats.org/drawingml/2006/main">
            <a:off x="590550" y="28670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93846"/>
                </a:solidFill>
                <a:latin typeface="Segoe UI"/>
                <a:ea typeface="Segoe UI"/>
                <a:cs typeface="Segoe UI"/>
              </a:defRPr>
            </a:defPPr>
          </a:lstStyle>
          <a:p xmlns:a="http://schemas.openxmlformats.org/drawingml/2006/main">
            <a:pPr>
              <a:defRPr sz="2100" b="0">
                <a:solidFill>
                  <a:srgbClr val="193846"/>
                </a:solidFill>
                <a:latin typeface="Segoe UI"/>
                <a:ea typeface="Segoe UI"/>
                <a:cs typeface="Segoe UI"/>
              </a:defRPr>
            </a:pPr>
            <a:r>
              <a:rPr sz="2100" b="0">
                <a:solidFill>
                  <a:srgbClr val="193846"/>
                </a:solidFill>
                <a:latin typeface="Segoe UI"/>
                <a:ea typeface="Segoe UI"/>
                <a:cs typeface="Segoe UI"/>
              </a:rPr>
              <a:t>Diagnostic → concept evidence → lesson</a:t>
            </a:r>
          </a:p>
          <a:p xmlns:a="http://schemas.openxmlformats.org/drawingml/2006/main">
            <a:pPr>
              <a:defRPr sz="2100" b="0">
                <a:solidFill>
                  <a:srgbClr val="193846"/>
                </a:solidFill>
                <a:latin typeface="Segoe UI"/>
                <a:ea typeface="Segoe UI"/>
                <a:cs typeface="Segoe UI"/>
              </a:defRPr>
            </a:pPr>
            <a:r>
              <a:rPr sz="2100" b="0">
                <a:solidFill>
                  <a:srgbClr val="193846"/>
                </a:solidFill>
                <a:latin typeface="Segoe UI"/>
                <a:ea typeface="Segoe UI"/>
                <a:cs typeface="Segoe UI"/>
              </a:rPr>
              <a:t>→ practice → retest → saved progress</a:t>
            </a:r>
          </a:p>
        </p:txBody>
      </p:sp>
      <p:sp>
        <p:nvSpPr>
          <p:cNvPr id="5" name="">
            <a:extLst xmlns:a="http://schemas.openxmlformats.org/drawingml/2006/main">
              <a:ext uri="{FF2B5EF4-FFF2-40B4-BE49-F238E27FC236}">
                <a16:creationId xmlns:a16="http://schemas.microsoft.com/office/drawing/2014/main" id="{5DABB348-260E-446E-9C87-E66536A5CA1D}"/>
              </a:ext>
            </a:extLst>
          </p:cNvPr>
          <p:cNvSpPr>
            <a:spLocks xmlns:a="http://schemas.openxmlformats.org/drawingml/2006/main" noGrp="1"/>
          </p:cNvSpPr>
          <p:nvPr/>
        </p:nvSpPr>
        <p:spPr>
          <a:xfrm xmlns:a="http://schemas.openxmlformats.org/drawingml/2006/main">
            <a:off x="6486525" y="2219325"/>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007E77"/>
                </a:solidFill>
                <a:latin typeface="Segoe UI"/>
                <a:ea typeface="Segoe UI"/>
                <a:cs typeface="Segoe UI"/>
              </a:defRPr>
            </a:defPPr>
          </a:lstStyle>
          <a:p xmlns:a="http://schemas.openxmlformats.org/drawingml/2006/main">
            <a:pPr>
              <a:defRPr sz="2475" b="1">
                <a:solidFill>
                  <a:srgbClr val="007E77"/>
                </a:solidFill>
                <a:latin typeface="Segoe UI"/>
                <a:ea typeface="Segoe UI"/>
                <a:cs typeface="Segoe UI"/>
              </a:defRPr>
            </a:pPr>
            <a:r>
              <a:rPr sz="2475" b="1">
                <a:solidFill>
                  <a:srgbClr val="007E77"/>
                </a:solidFill>
                <a:latin typeface="Segoe UI"/>
                <a:ea typeface="Segoe UI"/>
                <a:cs typeface="Segoe UI"/>
              </a:rPr>
              <a:t>Faculty journey</a:t>
            </a:r>
          </a:p>
        </p:txBody>
      </p:sp>
      <p:sp>
        <p:nvSpPr>
          <p:cNvPr id="6" name="">
            <a:extLst xmlns:a="http://schemas.openxmlformats.org/drawingml/2006/main">
              <a:ext uri="{FF2B5EF4-FFF2-40B4-BE49-F238E27FC236}">
                <a16:creationId xmlns:a16="http://schemas.microsoft.com/office/drawing/2014/main" id="{DBAD9119-4AF0-4BFF-921D-88B358C64A28}"/>
              </a:ext>
            </a:extLst>
          </p:cNvPr>
          <p:cNvSpPr>
            <a:spLocks xmlns:a="http://schemas.openxmlformats.org/drawingml/2006/main" noGrp="1"/>
          </p:cNvSpPr>
          <p:nvPr/>
        </p:nvSpPr>
        <p:spPr>
          <a:xfrm xmlns:a="http://schemas.openxmlformats.org/drawingml/2006/main">
            <a:off x="6486525" y="2867025"/>
            <a:ext cx="5048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93846"/>
                </a:solidFill>
                <a:latin typeface="Segoe UI"/>
                <a:ea typeface="Segoe UI"/>
                <a:cs typeface="Segoe UI"/>
              </a:defRPr>
            </a:defPPr>
          </a:lstStyle>
          <a:p xmlns:a="http://schemas.openxmlformats.org/drawingml/2006/main">
            <a:pPr>
              <a:defRPr sz="2100" b="0">
                <a:solidFill>
                  <a:srgbClr val="193846"/>
                </a:solidFill>
                <a:latin typeface="Segoe UI"/>
                <a:ea typeface="Segoe UI"/>
                <a:cs typeface="Segoe UI"/>
              </a:defRPr>
            </a:pPr>
            <a:r>
              <a:rPr sz="2100" b="0">
                <a:solidFill>
                  <a:srgbClr val="193846"/>
                </a:solidFill>
                <a:latin typeface="Segoe UI"/>
                <a:ea typeface="Segoe UI"/>
                <a:cs typeface="Segoe UI"/>
              </a:rPr>
              <a:t>Class overview → compare learners</a:t>
            </a:r>
          </a:p>
          <a:p xmlns:a="http://schemas.openxmlformats.org/drawingml/2006/main">
            <a:pPr>
              <a:defRPr sz="2100" b="0">
                <a:solidFill>
                  <a:srgbClr val="193846"/>
                </a:solidFill>
                <a:latin typeface="Segoe UI"/>
                <a:ea typeface="Segoe UI"/>
                <a:cs typeface="Segoe UI"/>
              </a:defRPr>
            </a:pPr>
            <a:r>
              <a:rPr sz="2100" b="0">
                <a:solidFill>
                  <a:srgbClr val="193846"/>
                </a:solidFill>
                <a:latin typeface="Segoe UI"/>
                <a:ea typeface="Segoe UI"/>
                <a:cs typeface="Segoe UI"/>
              </a:rPr>
              <a:t>→ review support queue → follow up</a:t>
            </a:r>
          </a:p>
        </p:txBody>
      </p:sp>
      <p:sp>
        <p:nvSpPr>
          <p:cNvPr id="7" name="">
            <a:extLst xmlns:a="http://schemas.openxmlformats.org/drawingml/2006/main">
              <a:ext uri="{FF2B5EF4-FFF2-40B4-BE49-F238E27FC236}">
                <a16:creationId xmlns:a16="http://schemas.microsoft.com/office/drawing/2014/main" id="{D55D9200-BDD2-4F40-B3B6-58A72C6FF65B}"/>
              </a:ext>
            </a:extLst>
          </p:cNvPr>
          <p:cNvSpPr>
            <a:spLocks xmlns:a="http://schemas.openxmlformats.org/drawingml/2006/main" noGrp="1"/>
          </p:cNvSpPr>
          <p:nvPr/>
        </p:nvSpPr>
        <p:spPr>
          <a:xfrm xmlns:a="http://schemas.openxmlformats.org/drawingml/2006/main">
            <a:off x="590550" y="4238625"/>
            <a:ext cx="10896600" cy="19050"/>
          </a:xfrm>
          <a:prstGeom xmlns:a="http://schemas.openxmlformats.org/drawingml/2006/main" prst="rect">
            <a:avLst/>
          </a:prstGeom>
          <a:solidFill xmlns:a="http://schemas.openxmlformats.org/drawingml/2006/main">
            <a:srgbClr val="DAE6E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53401AB-11D9-46BC-96F5-7E6135757E86}"/>
              </a:ext>
            </a:extLst>
          </p:cNvPr>
          <p:cNvSpPr>
            <a:spLocks xmlns:a="http://schemas.openxmlformats.org/drawingml/2006/main" noGrp="1"/>
          </p:cNvSpPr>
          <p:nvPr/>
        </p:nvSpPr>
        <p:spPr>
          <a:xfrm xmlns:a="http://schemas.openxmlformats.org/drawingml/2006/main">
            <a:off x="590550" y="454342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93846"/>
                </a:solidFill>
                <a:latin typeface="Segoe UI"/>
                <a:ea typeface="Segoe UI"/>
                <a:cs typeface="Segoe UI"/>
              </a:defRPr>
            </a:defPPr>
          </a:lstStyle>
          <a:p xmlns:a="http://schemas.openxmlformats.org/drawingml/2006/main">
            <a:pPr>
              <a:defRPr sz="2250" b="1">
                <a:solidFill>
                  <a:srgbClr val="193846"/>
                </a:solidFill>
                <a:latin typeface="Segoe UI"/>
                <a:ea typeface="Segoe UI"/>
                <a:cs typeface="Segoe UI"/>
              </a:defRPr>
            </a:pPr>
            <a:r>
              <a:rPr sz="2250" b="1">
                <a:solidFill>
                  <a:srgbClr val="193846"/>
                </a:solidFill>
                <a:latin typeface="Segoe UI"/>
                <a:ea typeface="Segoe UI"/>
                <a:cs typeface="Segoe UI"/>
              </a:rPr>
              <a:t>Deployment design · next implementation stage</a:t>
            </a:r>
          </a:p>
        </p:txBody>
      </p:sp>
      <p:sp>
        <p:nvSpPr>
          <p:cNvPr id="9" name="">
            <a:extLst xmlns:a="http://schemas.openxmlformats.org/drawingml/2006/main">
              <a:ext uri="{FF2B5EF4-FFF2-40B4-BE49-F238E27FC236}">
                <a16:creationId xmlns:a16="http://schemas.microsoft.com/office/drawing/2014/main" id="{602D38F2-5B07-4C8B-9336-524C88E1E895}"/>
              </a:ext>
            </a:extLst>
          </p:cNvPr>
          <p:cNvSpPr>
            <a:spLocks xmlns:a="http://schemas.openxmlformats.org/drawingml/2006/main" noGrp="1"/>
          </p:cNvSpPr>
          <p:nvPr/>
        </p:nvSpPr>
        <p:spPr>
          <a:xfrm xmlns:a="http://schemas.openxmlformats.org/drawingml/2006/main">
            <a:off x="590550" y="5181600"/>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F7885"/>
                </a:solidFill>
                <a:latin typeface="Segoe UI"/>
                <a:ea typeface="Segoe UI"/>
                <a:cs typeface="Segoe UI"/>
              </a:defRPr>
            </a:defPPr>
          </a:lstStyle>
          <a:p xmlns:a="http://schemas.openxmlformats.org/drawingml/2006/main">
            <a:pPr>
              <a:defRPr sz="2025" b="0">
                <a:solidFill>
                  <a:srgbClr val="5F7885"/>
                </a:solidFill>
                <a:latin typeface="Segoe UI"/>
                <a:ea typeface="Segoe UI"/>
                <a:cs typeface="Segoe UI"/>
              </a:defRPr>
            </a:pPr>
            <a:r>
              <a:rPr sz="2025" b="0">
                <a:solidFill>
                  <a:srgbClr val="5F7885"/>
                </a:solidFill>
                <a:latin typeface="Segoe UI"/>
                <a:ea typeface="Segoe UI"/>
                <a:cs typeface="Segoe UI"/>
              </a:rPr>
              <a:t>Identity + role access  •  HTTPS application service  •  Managed database</a:t>
            </a:r>
          </a:p>
          <a:p xmlns:a="http://schemas.openxmlformats.org/drawingml/2006/main">
            <a:pPr>
              <a:defRPr sz="2025" b="0">
                <a:solidFill>
                  <a:srgbClr val="5F7885"/>
                </a:solidFill>
                <a:latin typeface="Segoe UI"/>
                <a:ea typeface="Segoe UI"/>
                <a:cs typeface="Segoe UI"/>
              </a:defRPr>
            </a:pPr>
            <a:r>
              <a:rPr sz="2025" b="0">
                <a:solidFill>
                  <a:srgbClr val="5F7885"/>
                </a:solidFill>
                <a:latin typeface="Segoe UI"/>
                <a:ea typeface="Segoe UI"/>
                <a:cs typeface="Segoe UI"/>
              </a:rPr>
              <a:t>Backups + audit trail  •  Consent and retention  •  Approved AI quota policy</a:t>
            </a:r>
          </a:p>
        </p:txBody>
      </p:sp>
      <p:sp>
        <p:nvSpPr>
          <p:cNvPr id="10" name="">
            <a:extLst xmlns:a="http://schemas.openxmlformats.org/drawingml/2006/main">
              <a:ext uri="{FF2B5EF4-FFF2-40B4-BE49-F238E27FC236}">
                <a16:creationId xmlns:a16="http://schemas.microsoft.com/office/drawing/2014/main" id="{1B9EB507-37E7-4CF0-836A-C79586423E13}"/>
              </a:ext>
            </a:extLst>
          </p:cNvPr>
          <p:cNvSpPr>
            <a:spLocks xmlns:a="http://schemas.openxmlformats.org/drawingml/2006/main" noGrp="1"/>
          </p:cNvSpPr>
          <p:nvPr/>
        </p:nvSpPr>
        <p:spPr>
          <a:xfrm xmlns:a="http://schemas.openxmlformats.org/drawingml/2006/main">
            <a:off x="590550" y="6343650"/>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5F7885"/>
                </a:solidFill>
                <a:latin typeface="Segoe UI"/>
                <a:ea typeface="Segoe UI"/>
                <a:cs typeface="Segoe UI"/>
              </a:defRPr>
            </a:defPPr>
          </a:lstStyle>
          <a:p xmlns:a="http://schemas.openxmlformats.org/drawingml/2006/main">
            <a:pPr>
              <a:defRPr sz="1350" b="1">
                <a:solidFill>
                  <a:srgbClr val="5F7885"/>
                </a:solidFill>
                <a:latin typeface="Segoe UI"/>
                <a:ea typeface="Segoe UI"/>
                <a:cs typeface="Segoe UI"/>
              </a:defRPr>
            </a:pPr>
            <a:r>
              <a:rPr sz="1350" b="1">
                <a:solidFill>
                  <a:srgbClr val="5F7885"/>
                </a:solidFill>
                <a:latin typeface="Segoe UI"/>
                <a:ea typeface="Segoe UI"/>
                <a:cs typeface="Segoe UI"/>
              </a:rPr>
              <a:t>EduPulse · architecture appendix</a:t>
            </a:r>
          </a:p>
        </p:txBody>
      </p:sp>
      <p:sp>
        <p:nvSpPr>
          <p:cNvPr id="11" name="">
            <a:extLst xmlns:a="http://schemas.openxmlformats.org/drawingml/2006/main">
              <a:ext uri="{FF2B5EF4-FFF2-40B4-BE49-F238E27FC236}">
                <a16:creationId xmlns:a16="http://schemas.microsoft.com/office/drawing/2014/main" id="{6A6CD830-4635-417D-BC50-48F1384AC602}"/>
              </a:ext>
            </a:extLst>
          </p:cNvPr>
          <p:cNvSpPr>
            <a:spLocks xmlns:a="http://schemas.openxmlformats.org/drawingml/2006/main" noGrp="1"/>
          </p:cNvSpPr>
          <p:nvPr/>
        </p:nvSpPr>
        <p:spPr>
          <a:xfrm xmlns:a="http://schemas.openxmlformats.org/drawingml/2006/main">
            <a:off x="11125200" y="6343650"/>
            <a:ext cx="523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F7885"/>
                </a:solidFill>
                <a:latin typeface="Segoe UI"/>
                <a:ea typeface="Segoe UI"/>
                <a:cs typeface="Segoe UI"/>
              </a:defRPr>
            </a:defPPr>
          </a:lstStyle>
          <a:p xmlns:a="http://schemas.openxmlformats.org/drawingml/2006/main">
            <a:pPr>
              <a:defRPr sz="1350" b="0">
                <a:solidFill>
                  <a:srgbClr val="5F7885"/>
                </a:solidFill>
                <a:latin typeface="Segoe UI"/>
                <a:ea typeface="Segoe UI"/>
                <a:cs typeface="Segoe UI"/>
              </a:defRPr>
            </a:pPr>
            <a:r>
              <a:rPr sz="1350" b="0">
                <a:solidFill>
                  <a:srgbClr val="5F7885"/>
                </a:solidFill>
                <a:latin typeface="Segoe UI"/>
                <a:ea typeface="Segoe UI"/>
                <a:cs typeface="Segoe UI"/>
              </a:rPr>
              <a:t>12</a:t>
            </a:r>
          </a:p>
        </p:txBody>
      </p:sp>
    </p:spTree>
    <p:extLst>
      <p:ext uri="{BB962C8B-B14F-4D97-AF65-F5344CB8AC3E}">
        <p14:creationId xmlns:p14="http://schemas.microsoft.com/office/powerpoint/2010/main" val="1339358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2026-10-15T06:40:04.5640000Z</dcterms:created>
  <dcterms:modified xsi:type="dcterms:W3CDTF">2026-10-15T06:40:04.5640000Z</dcterms:modified>
</coreProperties>
</file>